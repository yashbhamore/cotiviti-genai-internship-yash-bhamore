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126" d="100"/>
          <a:sy n="126" d="100"/>
        </p:scale>
        <p:origin x="23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76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Yash Bhamore, and this is my submission for the Cotiviti GenAI internship assessment. Over the next ten minutes I want to walk through where agentic AI actually fits in healthcare, specifically around treatment, payment, and operations, and then show a small working proof of concept I built to make the ideas concrete. I picked this topic because it sits right on top of what Cotiviti does every day. I'd rather start with the problem than an agenda, so let's go straight there.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open with three numbers instead of a table of contents. Eighty-seven billion dollars in improper payments across CMS programs, a 7.66 percent error rate in Medicare fee-for-service alone, and hallucination rates that climb as high as 82 percent when you stress-test these models on clinical text. Put those together and you get the real tension of this whole space: the technology is capable, but most of it isn't safe to deploy yet. That's not a research gap, it's an engineering and governance gap. And that intersection is exactly where Cotiviti already operates, which is what makes the company well positioned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grounding on terms, because 'agentic' gets thrown around loosely. A plain language model answers one question and stops. An agent plans a sequence of steps, calls outside tools, and works toward a goal, all inside guardrails you set. The clinical version is on the right: a patient case goes in, the model reasons through it step by step, and what comes out is structured data, codes and risk flags, not a wall of prose. The reason chain-of-thought matters here isn't just accuracy, it's that it leaves a trail a clinician, a coder, or an auditor can each follow line by 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market context so this doesn't feel academic. The agentic-AI-in-healthcare segment is small today but compounding at around 44 percent a year, and as of late 2025 half of healthcare organizations had generative AI in production, which is double where it stood in 2023. The macro prize is the 200 to 360 billion dollars a year that broader AI adoption could save U.S. healthcare, and payers capture a meaningful slice of that. The takeaway I'd leave with Cotiviti is that this is no longer the experimental phase. Whoever moves now on the operational side gets the efficiency gains first, and that window is open right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opportunities line up with Cotiviti specifically. Payment integrity is the obvious one: 31.7 billion dollars in Medicare fee-for-service improper payments, and most of it traces back to documentation gaps rather than outright fraud, which is exactly what a retrieval-grounded agent is good at. Clinical decision support is real but earlier-stage; the research still shows reasoning gaps, so I'd keep a clinician in the loop rather than automate the call. And anomaly detection is almost tailor-made for this, the skin-substitute billing curve that ran from 1.6 to over 10 billion dollars in two years is precisely the pattern an agent should catch early. The thread through all three is that none of them ask Cotiviti to leave its core business.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want to oversell this, so here are the three things that genuinely worry me, and why I treat each as a design constraint rather than a dealbreaker. Hallucination is the big one; in a controlled study, models elaborated on planted false details most of the time, and a fabricated billing code is not a small mistake in this domain. HIPAA and the moving regulatory picture mean you have to get the infrastructure right before anything clever happens on top of it. And bias is real and well documented, the Obermeyer study is the classic case of a model quietly under-serving a population. The reason I show the mitigation under each one is that every threat here has a known engineering answer, which is what makes this a build problem and not a reason to wait.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of concept I built, and it's deliberately simple, but the structure is the interesting part. A patient case comes in as JSON. Before the model sees anything, a deterministic Python layer checks the vitals against age-banded ranges, so those facts are verified and fully auditable. Then the language model does the reasoning, and the output is forced through a schema, so what comes back is always structured. The key decision is the order: the rule layer runs first, and the model is never allowed to silently override an objective vital sign. That sequencing is the governance pattern I'd actually want in production, not just in a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the system running on a 58-year-old with chest pain. Notice the shape of it: a top diagnosis with an explicit confidence level, actual ICD-10 codes, risk flags tied to specific vital signs, and concrete next steps. None of this is free text the model improvised on its own. Every field you see is enforced by the Pydantic schema, which means a downstream system can rely on the structure every single time. That reliability is the line between a fun demo and something you could actually wire into a real workflow.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distill everything down to what Cotiviti should actually do, it's two things. First, build a hybrid payment-integrity agent: keep the existing rule engines as the floor, add retrieval-grounded agents on top, and route anything high-dollar or low-confidence to a human, with logging the whole way through. That goes straight at the 31.7 billion dollar number. Second, and this is the one most vendors skip, turn assurance and fairness into an actual product, standing hallucination and bias tests with plain-language model cards. The way I think about it is simple: the first recommendation captures the opportunity, and the second is what protects it over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submission, so let me tie the thread together. The opportunity in healthcare AI is real and large, but I think the teams that win will be the ones that treat safety and governance as engineering problems rather than afterthoughts. I tried to show that judgment in the proof of concept itself, not just talk about it on a slide. All of the code and the written materials are in the repository linked here. Thanks very much for your time, and I'm glad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14000"/>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457200"/>
            <a:ext cx="457200" cy="457200"/>
          </a:xfrm>
          <a:prstGeom prst="rect">
            <a:avLst/>
          </a:prstGeom>
          <a:noFill/>
          <a:ln/>
        </p:spPr>
        <p:txBody>
          <a:bodyPr wrap="square" lIns="0" tIns="0" rIns="0" bIns="0" rtlCol="0" anchor="ctr"/>
          <a:lstStyle/>
          <a:p>
            <a:pPr marL="0" indent="0" algn="ctr">
              <a:buNone/>
            </a:pPr>
            <a:r>
              <a:rPr lang="en-US" sz="1500" b="1" dirty="0">
                <a:solidFill>
                  <a:srgbClr val="00B4D8"/>
                </a:solidFill>
                <a:latin typeface="Calibri" pitchFamily="34" charset="0"/>
                <a:ea typeface="Calibri" pitchFamily="34" charset="-122"/>
                <a:cs typeface="Calibri" pitchFamily="34" charset="-120"/>
              </a:rPr>
              <a:t>YB</a:t>
            </a:r>
            <a:endParaRPr lang="en-US" sz="1500" dirty="0"/>
          </a:p>
        </p:txBody>
      </p:sp>
      <p:sp>
        <p:nvSpPr>
          <p:cNvPr id="4" name="Text 2"/>
          <p:cNvSpPr/>
          <p:nvPr/>
        </p:nvSpPr>
        <p:spPr>
          <a:xfrm>
            <a:off x="1097280" y="530352"/>
            <a:ext cx="7315200" cy="310896"/>
          </a:xfrm>
          <a:prstGeom prst="rect">
            <a:avLst/>
          </a:prstGeom>
          <a:noFill/>
          <a:ln/>
        </p:spPr>
        <p:txBody>
          <a:bodyPr wrap="square" lIns="0" tIns="0" rIns="0" bIns="0" rtlCol="0" anchor="ctr"/>
          <a:lstStyle/>
          <a:p>
            <a:pPr marL="0" indent="0">
              <a:buNone/>
            </a:pPr>
            <a:r>
              <a:rPr lang="en-US" sz="1100" b="1" kern="0" spc="200" dirty="0">
                <a:solidFill>
                  <a:srgbClr val="9FB3C8"/>
                </a:solidFill>
                <a:latin typeface="Calibri" pitchFamily="34" charset="0"/>
                <a:ea typeface="Calibri" pitchFamily="34" charset="-122"/>
                <a:cs typeface="Calibri" pitchFamily="34" charset="-120"/>
              </a:rPr>
              <a:t>GENAI INTERNSHIP ASSESSMENT</a:t>
            </a:r>
            <a:endParaRPr lang="en-US" sz="1100" dirty="0"/>
          </a:p>
        </p:txBody>
      </p:sp>
      <p:sp>
        <p:nvSpPr>
          <p:cNvPr id="5" name="Text 3"/>
          <p:cNvSpPr/>
          <p:nvPr/>
        </p:nvSpPr>
        <p:spPr>
          <a:xfrm>
            <a:off x="822960" y="2148840"/>
            <a:ext cx="10515600" cy="1188720"/>
          </a:xfrm>
          <a:prstGeom prst="rect">
            <a:avLst/>
          </a:prstGeom>
          <a:noFill/>
          <a:ln/>
        </p:spPr>
        <p:txBody>
          <a:bodyPr wrap="square" lIns="0" tIns="0" rIns="0" bIns="0" rtlCol="0" anchor="ctr"/>
          <a:lstStyle/>
          <a:p>
            <a:pPr marL="0" indent="0" algn="l">
              <a:buNone/>
            </a:pPr>
            <a:r>
              <a:rPr lang="en-US" sz="4600" b="1" dirty="0">
                <a:solidFill>
                  <a:srgbClr val="FFFFFF"/>
                </a:solidFill>
                <a:latin typeface="Calibri" pitchFamily="34" charset="0"/>
                <a:ea typeface="Calibri" pitchFamily="34" charset="-122"/>
                <a:cs typeface="Calibri" pitchFamily="34" charset="-120"/>
              </a:rPr>
              <a:t>Agentic AI for Clinical Decision Support</a:t>
            </a:r>
            <a:endParaRPr lang="en-US" sz="4600" dirty="0"/>
          </a:p>
        </p:txBody>
      </p:sp>
      <p:sp>
        <p:nvSpPr>
          <p:cNvPr id="6" name="Shape 4"/>
          <p:cNvSpPr/>
          <p:nvPr/>
        </p:nvSpPr>
        <p:spPr>
          <a:xfrm>
            <a:off x="868680" y="3401568"/>
            <a:ext cx="4023360" cy="0"/>
          </a:xfrm>
          <a:prstGeom prst="line">
            <a:avLst/>
          </a:prstGeom>
          <a:noFill/>
          <a:ln w="31750">
            <a:solidFill>
              <a:srgbClr val="00B4D8"/>
            </a:solidFill>
            <a:prstDash val="solid"/>
          </a:ln>
        </p:spPr>
        <p:txBody>
          <a:bodyPr/>
          <a:lstStyle/>
          <a:p>
            <a:endParaRPr lang="en-US"/>
          </a:p>
        </p:txBody>
      </p:sp>
      <p:sp>
        <p:nvSpPr>
          <p:cNvPr id="7" name="Text 5"/>
          <p:cNvSpPr/>
          <p:nvPr/>
        </p:nvSpPr>
        <p:spPr>
          <a:xfrm>
            <a:off x="822960" y="3611880"/>
            <a:ext cx="10515600" cy="548640"/>
          </a:xfrm>
          <a:prstGeom prst="rect">
            <a:avLst/>
          </a:prstGeom>
          <a:noFill/>
          <a:ln/>
        </p:spPr>
        <p:txBody>
          <a:bodyPr wrap="square" lIns="0" tIns="0" rIns="0" bIns="0" rtlCol="0" anchor="ctr"/>
          <a:lstStyle/>
          <a:p>
            <a:pPr marL="0" indent="0" algn="l">
              <a:buNone/>
            </a:pPr>
            <a:r>
              <a:rPr lang="en-US" sz="2100" dirty="0">
                <a:solidFill>
                  <a:srgbClr val="00B4D8"/>
                </a:solidFill>
                <a:latin typeface="Calibri" pitchFamily="34" charset="0"/>
                <a:ea typeface="Calibri" pitchFamily="34" charset="-122"/>
                <a:cs typeface="Calibri" pitchFamily="34" charset="-120"/>
              </a:rPr>
              <a:t>Pattern Recognition, Chain Reasoning &amp; Anomaly Detection for TPO</a:t>
            </a:r>
            <a:endParaRPr lang="en-US" sz="2100" dirty="0"/>
          </a:p>
        </p:txBody>
      </p:sp>
      <p:sp>
        <p:nvSpPr>
          <p:cNvPr id="8" name="Text 6"/>
          <p:cNvSpPr/>
          <p:nvPr/>
        </p:nvSpPr>
        <p:spPr>
          <a:xfrm>
            <a:off x="822960" y="5074920"/>
            <a:ext cx="105156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Yash Bhamore</a:t>
            </a:r>
            <a:r>
              <a:rPr lang="en-US" sz="1500" dirty="0">
                <a:solidFill>
                  <a:srgbClr val="C7D3DE"/>
                </a:solidFill>
                <a:latin typeface="Calibri" pitchFamily="34" charset="0"/>
                <a:ea typeface="Calibri" pitchFamily="34" charset="-122"/>
                <a:cs typeface="Calibri" pitchFamily="34" charset="-120"/>
              </a:rPr>
              <a:t>   |   M.S. Data Science, University of North Texas</a:t>
            </a:r>
            <a:endParaRPr lang="en-US" sz="1500" dirty="0"/>
          </a:p>
        </p:txBody>
      </p:sp>
      <p:sp>
        <p:nvSpPr>
          <p:cNvPr id="9" name="Text 7"/>
          <p:cNvSpPr/>
          <p:nvPr/>
        </p:nvSpPr>
        <p:spPr>
          <a:xfrm>
            <a:off x="822960" y="5486400"/>
            <a:ext cx="10515600" cy="365760"/>
          </a:xfrm>
          <a:prstGeom prst="rect">
            <a:avLst/>
          </a:prstGeom>
          <a:noFill/>
          <a:ln/>
        </p:spPr>
        <p:txBody>
          <a:bodyPr wrap="square" lIns="0" tIns="0" rIns="0" bIns="0" rtlCol="0" anchor="ctr"/>
          <a:lstStyle/>
          <a:p>
            <a:pPr marL="0" indent="0" algn="l">
              <a:buNone/>
            </a:pPr>
            <a:r>
              <a:rPr lang="en-US" sz="1300" dirty="0">
                <a:solidFill>
                  <a:srgbClr val="9FB3C8"/>
                </a:solidFill>
                <a:latin typeface="Calibri" pitchFamily="34" charset="0"/>
                <a:ea typeface="Calibri" pitchFamily="34" charset="-122"/>
                <a:cs typeface="Calibri" pitchFamily="34" charset="-120"/>
              </a:rPr>
              <a:t>Prepared for Cotiviti  —  GenAI Internship Assessment   |   June 2026</a:t>
            </a:r>
            <a:endParaRPr lang="en-US" sz="1300" dirty="0"/>
          </a:p>
        </p:txBody>
      </p:sp>
      <p:sp>
        <p:nvSpPr>
          <p:cNvPr id="10" name="Shape 8"/>
          <p:cNvSpPr/>
          <p:nvPr/>
        </p:nvSpPr>
        <p:spPr>
          <a:xfrm>
            <a:off x="9253728" y="6281928"/>
            <a:ext cx="347472" cy="0"/>
          </a:xfrm>
          <a:prstGeom prst="line">
            <a:avLst/>
          </a:prstGeom>
          <a:noFill/>
          <a:ln w="15875">
            <a:solidFill>
              <a:srgbClr val="00B4D8">
                <a:alpha val="65000"/>
              </a:srgbClr>
            </a:solidFill>
            <a:prstDash val="solid"/>
          </a:ln>
        </p:spPr>
        <p:txBody>
          <a:bodyPr/>
          <a:lstStyle/>
          <a:p>
            <a:endParaRPr lang="en-US"/>
          </a:p>
        </p:txBody>
      </p:sp>
      <p:sp>
        <p:nvSpPr>
          <p:cNvPr id="11" name="Shape 9"/>
          <p:cNvSpPr/>
          <p:nvPr/>
        </p:nvSpPr>
        <p:spPr>
          <a:xfrm>
            <a:off x="9144000" y="6172200"/>
            <a:ext cx="219456" cy="219456"/>
          </a:xfrm>
          <a:prstGeom prst="ellipse">
            <a:avLst/>
          </a:prstGeom>
          <a:solidFill>
            <a:srgbClr val="00B4D8">
              <a:alpha val="55000"/>
            </a:srgbClr>
          </a:solidFill>
          <a:ln/>
        </p:spPr>
        <p:txBody>
          <a:bodyPr/>
          <a:lstStyle/>
          <a:p>
            <a:endParaRPr lang="en-US"/>
          </a:p>
        </p:txBody>
      </p:sp>
      <p:sp>
        <p:nvSpPr>
          <p:cNvPr id="12" name="Shape 10"/>
          <p:cNvSpPr/>
          <p:nvPr/>
        </p:nvSpPr>
        <p:spPr>
          <a:xfrm>
            <a:off x="9820656" y="6281928"/>
            <a:ext cx="347472" cy="0"/>
          </a:xfrm>
          <a:prstGeom prst="line">
            <a:avLst/>
          </a:prstGeom>
          <a:noFill/>
          <a:ln w="15875">
            <a:solidFill>
              <a:srgbClr val="00B4D8">
                <a:alpha val="65000"/>
              </a:srgbClr>
            </a:solidFill>
            <a:prstDash val="solid"/>
          </a:ln>
        </p:spPr>
        <p:txBody>
          <a:bodyPr/>
          <a:lstStyle/>
          <a:p>
            <a:endParaRPr lang="en-US"/>
          </a:p>
        </p:txBody>
      </p:sp>
      <p:sp>
        <p:nvSpPr>
          <p:cNvPr id="13" name="Shape 11"/>
          <p:cNvSpPr/>
          <p:nvPr/>
        </p:nvSpPr>
        <p:spPr>
          <a:xfrm>
            <a:off x="9710928" y="6172200"/>
            <a:ext cx="219456" cy="219456"/>
          </a:xfrm>
          <a:prstGeom prst="ellipse">
            <a:avLst/>
          </a:prstGeom>
          <a:solidFill>
            <a:srgbClr val="00B4D8">
              <a:alpha val="55000"/>
            </a:srgbClr>
          </a:solidFill>
          <a:ln/>
        </p:spPr>
        <p:txBody>
          <a:bodyPr/>
          <a:lstStyle/>
          <a:p>
            <a:endParaRPr lang="en-US"/>
          </a:p>
        </p:txBody>
      </p:sp>
      <p:sp>
        <p:nvSpPr>
          <p:cNvPr id="14" name="Shape 12"/>
          <p:cNvSpPr/>
          <p:nvPr/>
        </p:nvSpPr>
        <p:spPr>
          <a:xfrm>
            <a:off x="10387584" y="6281928"/>
            <a:ext cx="347472" cy="0"/>
          </a:xfrm>
          <a:prstGeom prst="line">
            <a:avLst/>
          </a:prstGeom>
          <a:noFill/>
          <a:ln w="15875">
            <a:solidFill>
              <a:srgbClr val="00B4D8">
                <a:alpha val="65000"/>
              </a:srgbClr>
            </a:solidFill>
            <a:prstDash val="solid"/>
          </a:ln>
        </p:spPr>
        <p:txBody>
          <a:bodyPr/>
          <a:lstStyle/>
          <a:p>
            <a:endParaRPr lang="en-US"/>
          </a:p>
        </p:txBody>
      </p:sp>
      <p:sp>
        <p:nvSpPr>
          <p:cNvPr id="15" name="Shape 13"/>
          <p:cNvSpPr/>
          <p:nvPr/>
        </p:nvSpPr>
        <p:spPr>
          <a:xfrm>
            <a:off x="10277856" y="6172200"/>
            <a:ext cx="219456" cy="219456"/>
          </a:xfrm>
          <a:prstGeom prst="ellipse">
            <a:avLst/>
          </a:prstGeom>
          <a:solidFill>
            <a:srgbClr val="00B4D8">
              <a:alpha val="55000"/>
            </a:srgbClr>
          </a:solidFill>
          <a:ln/>
        </p:spPr>
        <p:txBody>
          <a:bodyPr/>
          <a:lstStyle/>
          <a:p>
            <a:endParaRPr lang="en-US"/>
          </a:p>
        </p:txBody>
      </p:sp>
      <p:sp>
        <p:nvSpPr>
          <p:cNvPr id="16" name="Shape 14"/>
          <p:cNvSpPr/>
          <p:nvPr/>
        </p:nvSpPr>
        <p:spPr>
          <a:xfrm>
            <a:off x="10844784" y="6172200"/>
            <a:ext cx="219456" cy="219456"/>
          </a:xfrm>
          <a:prstGeom prst="ellipse">
            <a:avLst/>
          </a:prstGeom>
          <a:solidFill>
            <a:srgbClr val="00B4D8"/>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02</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The Problem Worth Solving</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1508760"/>
            <a:ext cx="3515258" cy="2331720"/>
          </a:xfrm>
          <a:prstGeom prst="roundRect">
            <a:avLst>
              <a:gd name="adj" fmla="val 2353"/>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8" name="Text 6"/>
          <p:cNvSpPr/>
          <p:nvPr/>
        </p:nvSpPr>
        <p:spPr>
          <a:xfrm>
            <a:off x="502920" y="1764792"/>
            <a:ext cx="3515258" cy="91440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$87.1B</a:t>
            </a:r>
            <a:endParaRPr lang="en-US" sz="3800" dirty="0"/>
          </a:p>
        </p:txBody>
      </p:sp>
      <p:sp>
        <p:nvSpPr>
          <p:cNvPr id="9" name="Text 7"/>
          <p:cNvSpPr/>
          <p:nvPr/>
        </p:nvSpPr>
        <p:spPr>
          <a:xfrm>
            <a:off x="704088" y="2679192"/>
            <a:ext cx="3112922" cy="5029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Improper payments across CMS programs</a:t>
            </a:r>
            <a:endParaRPr lang="en-US" sz="1300" dirty="0"/>
          </a:p>
        </p:txBody>
      </p:sp>
      <p:sp>
        <p:nvSpPr>
          <p:cNvPr id="10" name="Text 8"/>
          <p:cNvSpPr/>
          <p:nvPr/>
        </p:nvSpPr>
        <p:spPr>
          <a:xfrm>
            <a:off x="740664" y="3172968"/>
            <a:ext cx="3039770" cy="548640"/>
          </a:xfrm>
          <a:prstGeom prst="rect">
            <a:avLst/>
          </a:prstGeom>
          <a:noFill/>
          <a:ln/>
        </p:spPr>
        <p:txBody>
          <a:bodyPr wrap="square" lIns="0" tIns="0" rIns="0" bIns="0" rtlCol="0" anchor="t"/>
          <a:lstStyle/>
          <a:p>
            <a:pPr marL="0" indent="0" algn="ctr">
              <a:buNone/>
            </a:pPr>
            <a:r>
              <a:rPr lang="en-US" sz="1050" dirty="0">
                <a:solidFill>
                  <a:srgbClr val="C7D3DE"/>
                </a:solidFill>
                <a:latin typeface="Calibri" pitchFamily="34" charset="0"/>
                <a:ea typeface="Calibri" pitchFamily="34" charset="-122"/>
                <a:cs typeface="Calibri" pitchFamily="34" charset="-120"/>
              </a:rPr>
              <a:t>All Medicare, Medicaid, CHIP &amp; ACA programs (2024)</a:t>
            </a:r>
            <a:endParaRPr lang="en-US" sz="1050" dirty="0"/>
          </a:p>
        </p:txBody>
      </p:sp>
      <p:sp>
        <p:nvSpPr>
          <p:cNvPr id="11" name="Shape 9"/>
          <p:cNvSpPr/>
          <p:nvPr/>
        </p:nvSpPr>
        <p:spPr>
          <a:xfrm>
            <a:off x="4338218" y="1508760"/>
            <a:ext cx="3515258" cy="2331720"/>
          </a:xfrm>
          <a:prstGeom prst="roundRect">
            <a:avLst>
              <a:gd name="adj" fmla="val 2353"/>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2" name="Text 10"/>
          <p:cNvSpPr/>
          <p:nvPr/>
        </p:nvSpPr>
        <p:spPr>
          <a:xfrm>
            <a:off x="4338218" y="1764792"/>
            <a:ext cx="3515258" cy="91440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7.66%</a:t>
            </a:r>
            <a:endParaRPr lang="en-US" sz="3800" dirty="0"/>
          </a:p>
        </p:txBody>
      </p:sp>
      <p:sp>
        <p:nvSpPr>
          <p:cNvPr id="13" name="Text 11"/>
          <p:cNvSpPr/>
          <p:nvPr/>
        </p:nvSpPr>
        <p:spPr>
          <a:xfrm>
            <a:off x="4539386" y="2679192"/>
            <a:ext cx="3112922" cy="5029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Medicare Fee-for-Service error rate</a:t>
            </a:r>
            <a:endParaRPr lang="en-US" sz="1300" dirty="0"/>
          </a:p>
        </p:txBody>
      </p:sp>
      <p:sp>
        <p:nvSpPr>
          <p:cNvPr id="14" name="Text 12"/>
          <p:cNvSpPr/>
          <p:nvPr/>
        </p:nvSpPr>
        <p:spPr>
          <a:xfrm>
            <a:off x="4575962" y="3172968"/>
            <a:ext cx="3039770" cy="548640"/>
          </a:xfrm>
          <a:prstGeom prst="rect">
            <a:avLst/>
          </a:prstGeom>
          <a:noFill/>
          <a:ln/>
        </p:spPr>
        <p:txBody>
          <a:bodyPr wrap="square" lIns="0" tIns="0" rIns="0" bIns="0" rtlCol="0" anchor="t"/>
          <a:lstStyle/>
          <a:p>
            <a:pPr marL="0" indent="0" algn="ctr">
              <a:buNone/>
            </a:pPr>
            <a:r>
              <a:rPr lang="en-US" sz="1050" dirty="0">
                <a:solidFill>
                  <a:srgbClr val="C7D3DE"/>
                </a:solidFill>
                <a:latin typeface="Calibri" pitchFamily="34" charset="0"/>
                <a:ea typeface="Calibri" pitchFamily="34" charset="-122"/>
                <a:cs typeface="Calibri" pitchFamily="34" charset="-120"/>
              </a:rPr>
              <a:t>$31.7B in a single program, FY2024</a:t>
            </a:r>
            <a:endParaRPr lang="en-US" sz="1050" dirty="0"/>
          </a:p>
        </p:txBody>
      </p:sp>
      <p:sp>
        <p:nvSpPr>
          <p:cNvPr id="15" name="Shape 13"/>
          <p:cNvSpPr/>
          <p:nvPr/>
        </p:nvSpPr>
        <p:spPr>
          <a:xfrm>
            <a:off x="8173517" y="1508760"/>
            <a:ext cx="3515258" cy="2331720"/>
          </a:xfrm>
          <a:prstGeom prst="roundRect">
            <a:avLst>
              <a:gd name="adj" fmla="val 2353"/>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6" name="Text 14"/>
          <p:cNvSpPr/>
          <p:nvPr/>
        </p:nvSpPr>
        <p:spPr>
          <a:xfrm>
            <a:off x="8173517" y="1764792"/>
            <a:ext cx="3515258" cy="91440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50–82%</a:t>
            </a:r>
            <a:endParaRPr lang="en-US" sz="3800" dirty="0"/>
          </a:p>
        </p:txBody>
      </p:sp>
      <p:sp>
        <p:nvSpPr>
          <p:cNvPr id="17" name="Text 15"/>
          <p:cNvSpPr/>
          <p:nvPr/>
        </p:nvSpPr>
        <p:spPr>
          <a:xfrm>
            <a:off x="8374685" y="2679192"/>
            <a:ext cx="3112922" cy="5029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LLM hallucination rate, clinical tests</a:t>
            </a:r>
            <a:endParaRPr lang="en-US" sz="1300" dirty="0"/>
          </a:p>
        </p:txBody>
      </p:sp>
      <p:sp>
        <p:nvSpPr>
          <p:cNvPr id="18" name="Text 16"/>
          <p:cNvSpPr/>
          <p:nvPr/>
        </p:nvSpPr>
        <p:spPr>
          <a:xfrm>
            <a:off x="8411261" y="3172968"/>
            <a:ext cx="3039770" cy="548640"/>
          </a:xfrm>
          <a:prstGeom prst="rect">
            <a:avLst/>
          </a:prstGeom>
          <a:noFill/>
          <a:ln/>
        </p:spPr>
        <p:txBody>
          <a:bodyPr wrap="square" lIns="0" tIns="0" rIns="0" bIns="0" rtlCol="0" anchor="t"/>
          <a:lstStyle/>
          <a:p>
            <a:pPr marL="0" indent="0" algn="ctr">
              <a:buNone/>
            </a:pPr>
            <a:r>
              <a:rPr lang="en-US" sz="1050" dirty="0">
                <a:solidFill>
                  <a:srgbClr val="C7D3DE"/>
                </a:solidFill>
                <a:latin typeface="Calibri" pitchFamily="34" charset="0"/>
                <a:ea typeface="Calibri" pitchFamily="34" charset="-122"/>
                <a:cs typeface="Calibri" pitchFamily="34" charset="-120"/>
              </a:rPr>
              <a:t>Models elaborate on planted false details</a:t>
            </a:r>
            <a:endParaRPr lang="en-US" sz="1050" dirty="0"/>
          </a:p>
        </p:txBody>
      </p:sp>
      <p:sp>
        <p:nvSpPr>
          <p:cNvPr id="19" name="Text 17"/>
          <p:cNvSpPr/>
          <p:nvPr/>
        </p:nvSpPr>
        <p:spPr>
          <a:xfrm>
            <a:off x="502920" y="4160520"/>
            <a:ext cx="11185855" cy="914400"/>
          </a:xfrm>
          <a:prstGeom prst="rect">
            <a:avLst/>
          </a:prstGeom>
          <a:noFill/>
          <a:ln/>
        </p:spPr>
        <p:txBody>
          <a:bodyPr wrap="square" lIns="0" tIns="0" rIns="0" bIns="0" rtlCol="0" anchor="ctr"/>
          <a:lstStyle/>
          <a:p>
            <a:pPr marL="0" indent="0" algn="ctr">
              <a:buNone/>
            </a:pPr>
            <a:r>
              <a:rPr lang="en-US" sz="1800" dirty="0">
                <a:solidFill>
                  <a:srgbClr val="C7D3DE"/>
                </a:solidFill>
                <a:latin typeface="Calibri" pitchFamily="34" charset="0"/>
                <a:ea typeface="Calibri" pitchFamily="34" charset="-122"/>
                <a:cs typeface="Calibri" pitchFamily="34" charset="-120"/>
              </a:rPr>
              <a:t>The gap between what AI </a:t>
            </a:r>
            <a:r>
              <a:rPr lang="en-US" sz="1800" i="1" dirty="0">
                <a:solidFill>
                  <a:srgbClr val="FFFFFF"/>
                </a:solidFill>
                <a:latin typeface="Calibri" pitchFamily="34" charset="0"/>
                <a:ea typeface="Calibri" pitchFamily="34" charset="-122"/>
                <a:cs typeface="Calibri" pitchFamily="34" charset="-120"/>
              </a:rPr>
              <a:t>can</a:t>
            </a:r>
            <a:r>
              <a:rPr lang="en-US" sz="1800" dirty="0">
                <a:solidFill>
                  <a:srgbClr val="C7D3DE"/>
                </a:solidFill>
                <a:latin typeface="Calibri" pitchFamily="34" charset="0"/>
                <a:ea typeface="Calibri" pitchFamily="34" charset="-122"/>
                <a:cs typeface="Calibri" pitchFamily="34" charset="-120"/>
              </a:rPr>
              <a:t> do and what healthcare can </a:t>
            </a:r>
            <a:r>
              <a:rPr lang="en-US" sz="1800" b="1" dirty="0">
                <a:solidFill>
                  <a:srgbClr val="FFFFFF"/>
                </a:solidFill>
                <a:latin typeface="Calibri" pitchFamily="34" charset="0"/>
                <a:ea typeface="Calibri" pitchFamily="34" charset="-122"/>
                <a:cs typeface="Calibri" pitchFamily="34" charset="-120"/>
              </a:rPr>
              <a:t>safely deploy</a:t>
            </a:r>
            <a:r>
              <a:rPr lang="en-US" sz="1800" dirty="0">
                <a:solidFill>
                  <a:srgbClr val="C7D3DE"/>
                </a:solidFill>
                <a:latin typeface="Calibri" pitchFamily="34" charset="0"/>
                <a:ea typeface="Calibri" pitchFamily="34" charset="-122"/>
                <a:cs typeface="Calibri" pitchFamily="34" charset="-120"/>
              </a:rPr>
              <a:t> is an engineering and governance problem — not a research one.</a:t>
            </a:r>
            <a:endParaRPr lang="en-US" sz="1800" dirty="0"/>
          </a:p>
        </p:txBody>
      </p:sp>
      <p:sp>
        <p:nvSpPr>
          <p:cNvPr id="20" name="Shape 18"/>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21" name="Text 19"/>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Cotiviti sits at the exact intersection of all three.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03</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What Is Agentic AI?</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Text 5"/>
          <p:cNvSpPr/>
          <p:nvPr/>
        </p:nvSpPr>
        <p:spPr>
          <a:xfrm>
            <a:off x="502920" y="1417320"/>
            <a:ext cx="4983480" cy="1554480"/>
          </a:xfrm>
          <a:prstGeom prst="rect">
            <a:avLst/>
          </a:prstGeom>
          <a:noFill/>
          <a:ln/>
        </p:spPr>
        <p:txBody>
          <a:bodyPr wrap="square" lIns="0" tIns="0" rIns="0" bIns="0" rtlCol="0" anchor="t"/>
          <a:lstStyle/>
          <a:p>
            <a:pPr marL="0" indent="0" algn="l">
              <a:lnSpc>
                <a:spcPct val="115000"/>
              </a:lnSpc>
              <a:buNone/>
            </a:pPr>
            <a:r>
              <a:rPr lang="en-US" sz="1700" dirty="0">
                <a:solidFill>
                  <a:srgbClr val="C7D3DE"/>
                </a:solidFill>
                <a:latin typeface="Calibri" pitchFamily="34" charset="0"/>
                <a:ea typeface="Calibri" pitchFamily="34" charset="-122"/>
                <a:cs typeface="Calibri" pitchFamily="34" charset="-120"/>
              </a:rPr>
              <a:t>An agent plans a sequence of steps, calls external tools, and works toward a goal with minimal human prompting — all inside guardrails you define.</a:t>
            </a:r>
            <a:endParaRPr lang="en-US" sz="1700" dirty="0"/>
          </a:p>
        </p:txBody>
      </p:sp>
      <p:sp>
        <p:nvSpPr>
          <p:cNvPr id="8" name="Shape 6"/>
          <p:cNvSpPr/>
          <p:nvPr/>
        </p:nvSpPr>
        <p:spPr>
          <a:xfrm>
            <a:off x="502920" y="3246120"/>
            <a:ext cx="4983480" cy="2148840"/>
          </a:xfrm>
          <a:prstGeom prst="roundRect">
            <a:avLst>
              <a:gd name="adj" fmla="val 2553"/>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9" name="Text 7"/>
          <p:cNvSpPr/>
          <p:nvPr/>
        </p:nvSpPr>
        <p:spPr>
          <a:xfrm>
            <a:off x="777240" y="3456432"/>
            <a:ext cx="4434840" cy="320040"/>
          </a:xfrm>
          <a:prstGeom prst="rect">
            <a:avLst/>
          </a:prstGeom>
          <a:noFill/>
          <a:ln/>
        </p:spPr>
        <p:txBody>
          <a:bodyPr wrap="square" lIns="0" tIns="0" rIns="0" bIns="0" rtlCol="0" anchor="ctr"/>
          <a:lstStyle/>
          <a:p>
            <a:pPr marL="0" indent="0">
              <a:buNone/>
            </a:pPr>
            <a:r>
              <a:rPr lang="en-US" sz="1100" b="1" kern="0" spc="150" dirty="0">
                <a:solidFill>
                  <a:srgbClr val="00B4D8"/>
                </a:solidFill>
                <a:latin typeface="Calibri" pitchFamily="34" charset="0"/>
                <a:ea typeface="Calibri" pitchFamily="34" charset="-122"/>
                <a:cs typeface="Calibri" pitchFamily="34" charset="-120"/>
              </a:rPr>
              <a:t>PLAIN LLM vs. AGENT</a:t>
            </a:r>
            <a:endParaRPr lang="en-US" sz="1100" dirty="0"/>
          </a:p>
        </p:txBody>
      </p:sp>
      <p:sp>
        <p:nvSpPr>
          <p:cNvPr id="10" name="Text 8"/>
          <p:cNvSpPr/>
          <p:nvPr/>
        </p:nvSpPr>
        <p:spPr>
          <a:xfrm>
            <a:off x="777240" y="3840480"/>
            <a:ext cx="4434840" cy="1463040"/>
          </a:xfrm>
          <a:prstGeom prst="rect">
            <a:avLst/>
          </a:prstGeom>
          <a:noFill/>
          <a:ln/>
        </p:spPr>
        <p:txBody>
          <a:bodyPr wrap="square" lIns="0" tIns="0" rIns="0" bIns="0" rtlCol="0" anchor="t"/>
          <a:lstStyle/>
          <a:p>
            <a:pPr marL="0" indent="0" algn="l">
              <a:lnSpc>
                <a:spcPct val="110000"/>
              </a:lnSpc>
              <a:spcAft>
                <a:spcPts val="1000"/>
              </a:spcAft>
              <a:buNone/>
            </a:pPr>
            <a:r>
              <a:rPr lang="en-US" sz="1500" b="1" dirty="0">
                <a:solidFill>
                  <a:srgbClr val="FFFFFF"/>
                </a:solidFill>
                <a:latin typeface="Calibri" pitchFamily="34" charset="0"/>
                <a:ea typeface="Calibri" pitchFamily="34" charset="-122"/>
                <a:cs typeface="Calibri" pitchFamily="34" charset="-120"/>
              </a:rPr>
              <a:t>Standard LLM:  </a:t>
            </a:r>
            <a:r>
              <a:rPr lang="en-US" sz="1500" dirty="0">
                <a:solidFill>
                  <a:srgbClr val="C7D3DE"/>
                </a:solidFill>
                <a:latin typeface="Calibri" pitchFamily="34" charset="0"/>
                <a:ea typeface="Calibri" pitchFamily="34" charset="-122"/>
                <a:cs typeface="Calibri" pitchFamily="34" charset="-120"/>
              </a:rPr>
              <a:t>one question, one answer.</a:t>
            </a:r>
            <a:endParaRPr lang="en-US" sz="1500" dirty="0"/>
          </a:p>
          <a:p>
            <a:pPr marL="0" indent="0" algn="l">
              <a:lnSpc>
                <a:spcPct val="110000"/>
              </a:lnSpc>
              <a:spcAft>
                <a:spcPts val="1000"/>
              </a:spcAft>
              <a:buNone/>
            </a:pPr>
            <a:r>
              <a:rPr lang="en-US" sz="1500" b="1" dirty="0">
                <a:solidFill>
                  <a:srgbClr val="FFFFFF"/>
                </a:solidFill>
                <a:latin typeface="Calibri" pitchFamily="34" charset="0"/>
                <a:ea typeface="Calibri" pitchFamily="34" charset="-122"/>
                <a:cs typeface="Calibri" pitchFamily="34" charset="-120"/>
              </a:rPr>
              <a:t>Agent:  </a:t>
            </a:r>
            <a:r>
              <a:rPr lang="en-US" sz="1500" dirty="0">
                <a:solidFill>
                  <a:srgbClr val="C7D3DE"/>
                </a:solidFill>
                <a:latin typeface="Calibri" pitchFamily="34" charset="0"/>
                <a:ea typeface="Calibri" pitchFamily="34" charset="-122"/>
                <a:cs typeface="Calibri" pitchFamily="34" charset="-120"/>
              </a:rPr>
              <a:t>goal → plan → tool calls → validated result.</a:t>
            </a:r>
            <a:endParaRPr lang="en-US" sz="1500" dirty="0"/>
          </a:p>
        </p:txBody>
      </p:sp>
      <p:sp>
        <p:nvSpPr>
          <p:cNvPr id="11" name="Shape 9"/>
          <p:cNvSpPr/>
          <p:nvPr/>
        </p:nvSpPr>
        <p:spPr>
          <a:xfrm>
            <a:off x="5943600" y="1417320"/>
            <a:ext cx="5742432" cy="960120"/>
          </a:xfrm>
          <a:prstGeom prst="roundRect">
            <a:avLst>
              <a:gd name="adj" fmla="val 5714"/>
            </a:avLst>
          </a:prstGeom>
          <a:solidFill>
            <a:srgbClr val="16304B"/>
          </a:solidFill>
          <a:ln w="12700">
            <a:solidFill>
              <a:srgbClr val="24415E"/>
            </a:solidFill>
            <a:prstDash val="solid"/>
          </a:ln>
        </p:spPr>
        <p:txBody>
          <a:bodyPr/>
          <a:lstStyle/>
          <a:p>
            <a:endParaRPr lang="en-US"/>
          </a:p>
        </p:txBody>
      </p:sp>
      <p:sp>
        <p:nvSpPr>
          <p:cNvPr id="12" name="Text 10"/>
          <p:cNvSpPr/>
          <p:nvPr/>
        </p:nvSpPr>
        <p:spPr>
          <a:xfrm>
            <a:off x="6172200" y="1417320"/>
            <a:ext cx="640080" cy="960120"/>
          </a:xfrm>
          <a:prstGeom prst="rect">
            <a:avLst/>
          </a:prstGeom>
          <a:noFill/>
          <a:ln/>
        </p:spPr>
        <p:txBody>
          <a:bodyPr wrap="square" lIns="0" tIns="0" rIns="0" bIns="0"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1</a:t>
            </a:r>
            <a:endParaRPr lang="en-US" sz="2600" dirty="0"/>
          </a:p>
        </p:txBody>
      </p:sp>
      <p:sp>
        <p:nvSpPr>
          <p:cNvPr id="13" name="Text 11"/>
          <p:cNvSpPr/>
          <p:nvPr/>
        </p:nvSpPr>
        <p:spPr>
          <a:xfrm>
            <a:off x="6903720" y="1417320"/>
            <a:ext cx="4553712" cy="960120"/>
          </a:xfrm>
          <a:prstGeom prst="rect">
            <a:avLst/>
          </a:prstGeom>
          <a:noFill/>
          <a:ln/>
        </p:spPr>
        <p:txBody>
          <a:bodyPr wrap="square" lIns="0" tIns="0" rIns="0" bIns="0" rtlCol="0" anchor="ctr"/>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Patient Input</a:t>
            </a:r>
            <a:endParaRPr lang="en-US" sz="1400" dirty="0"/>
          </a:p>
          <a:p>
            <a:pPr marL="0" indent="0" algn="l">
              <a:spcAft>
                <a:spcPts val="300"/>
              </a:spcAft>
              <a:buNone/>
            </a:pPr>
            <a:r>
              <a:rPr lang="en-US" sz="1400" dirty="0">
                <a:solidFill>
                  <a:srgbClr val="C7D3DE"/>
                </a:solidFill>
                <a:latin typeface="Calibri" pitchFamily="34" charset="0"/>
                <a:ea typeface="Calibri" pitchFamily="34" charset="-122"/>
                <a:cs typeface="Calibri" pitchFamily="34" charset="-120"/>
              </a:rPr>
              <a:t>Age, symptoms, vitals, history</a:t>
            </a:r>
            <a:endParaRPr lang="en-US" sz="1400" dirty="0"/>
          </a:p>
        </p:txBody>
      </p:sp>
      <p:sp>
        <p:nvSpPr>
          <p:cNvPr id="14" name="Text 12"/>
          <p:cNvSpPr/>
          <p:nvPr/>
        </p:nvSpPr>
        <p:spPr>
          <a:xfrm>
            <a:off x="8540496" y="2340864"/>
            <a:ext cx="548640" cy="457200"/>
          </a:xfrm>
          <a:prstGeom prst="rect">
            <a:avLst/>
          </a:prstGeom>
          <a:noFill/>
          <a:ln/>
        </p:spPr>
        <p:txBody>
          <a:bodyPr wrap="square" lIns="0" tIns="0" rIns="0" bIns="0" rtlCol="0" anchor="ctr"/>
          <a:lstStyle/>
          <a:p>
            <a:pPr marL="0" indent="0" algn="ctr">
              <a:buNone/>
            </a:pPr>
            <a:r>
              <a:rPr lang="en-US" sz="2000" b="1" dirty="0">
                <a:solidFill>
                  <a:srgbClr val="00B4D8"/>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5943600" y="2761488"/>
            <a:ext cx="5742432" cy="960120"/>
          </a:xfrm>
          <a:prstGeom prst="roundRect">
            <a:avLst>
              <a:gd name="adj" fmla="val 5714"/>
            </a:avLst>
          </a:prstGeom>
          <a:solidFill>
            <a:srgbClr val="12466A"/>
          </a:solidFill>
          <a:ln w="15875">
            <a:solidFill>
              <a:srgbClr val="00B4D8"/>
            </a:solidFill>
            <a:prstDash val="solid"/>
          </a:ln>
        </p:spPr>
        <p:txBody>
          <a:bodyPr/>
          <a:lstStyle/>
          <a:p>
            <a:endParaRPr lang="en-US"/>
          </a:p>
        </p:txBody>
      </p:sp>
      <p:sp>
        <p:nvSpPr>
          <p:cNvPr id="16" name="Text 14"/>
          <p:cNvSpPr/>
          <p:nvPr/>
        </p:nvSpPr>
        <p:spPr>
          <a:xfrm>
            <a:off x="6172200" y="2761488"/>
            <a:ext cx="640080" cy="960120"/>
          </a:xfrm>
          <a:prstGeom prst="rect">
            <a:avLst/>
          </a:prstGeom>
          <a:noFill/>
          <a:ln/>
        </p:spPr>
        <p:txBody>
          <a:bodyPr wrap="square" lIns="0" tIns="0" rIns="0" bIns="0"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2</a:t>
            </a:r>
            <a:endParaRPr lang="en-US" sz="2600" dirty="0"/>
          </a:p>
        </p:txBody>
      </p:sp>
      <p:sp>
        <p:nvSpPr>
          <p:cNvPr id="17" name="Text 15"/>
          <p:cNvSpPr/>
          <p:nvPr/>
        </p:nvSpPr>
        <p:spPr>
          <a:xfrm>
            <a:off x="6903720" y="2761488"/>
            <a:ext cx="4553712" cy="960120"/>
          </a:xfrm>
          <a:prstGeom prst="rect">
            <a:avLst/>
          </a:prstGeom>
          <a:noFill/>
          <a:ln/>
        </p:spPr>
        <p:txBody>
          <a:bodyPr wrap="square" lIns="0" tIns="0" rIns="0" bIns="0" rtlCol="0" anchor="ctr"/>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Chain-of-Thought Reasoning</a:t>
            </a:r>
            <a:endParaRPr lang="en-US" sz="1400" dirty="0"/>
          </a:p>
          <a:p>
            <a:pPr marL="0" indent="0" algn="l">
              <a:spcAft>
                <a:spcPts val="300"/>
              </a:spcAft>
              <a:buNone/>
            </a:pPr>
            <a:r>
              <a:rPr lang="en-US" sz="1400" dirty="0">
                <a:solidFill>
                  <a:srgbClr val="C7D3DE"/>
                </a:solidFill>
                <a:latin typeface="Calibri" pitchFamily="34" charset="0"/>
                <a:ea typeface="Calibri" pitchFamily="34" charset="-122"/>
                <a:cs typeface="Calibri" pitchFamily="34" charset="-120"/>
              </a:rPr>
              <a:t>Step-by-step differential diagnosis</a:t>
            </a:r>
            <a:endParaRPr lang="en-US" sz="1400" dirty="0"/>
          </a:p>
        </p:txBody>
      </p:sp>
      <p:sp>
        <p:nvSpPr>
          <p:cNvPr id="18" name="Text 16"/>
          <p:cNvSpPr/>
          <p:nvPr/>
        </p:nvSpPr>
        <p:spPr>
          <a:xfrm>
            <a:off x="8540496" y="3685032"/>
            <a:ext cx="548640" cy="457200"/>
          </a:xfrm>
          <a:prstGeom prst="rect">
            <a:avLst/>
          </a:prstGeom>
          <a:noFill/>
          <a:ln/>
        </p:spPr>
        <p:txBody>
          <a:bodyPr wrap="square" lIns="0" tIns="0" rIns="0" bIns="0" rtlCol="0" anchor="ctr"/>
          <a:lstStyle/>
          <a:p>
            <a:pPr marL="0" indent="0" algn="ctr">
              <a:buNone/>
            </a:pPr>
            <a:r>
              <a:rPr lang="en-US" sz="2000" b="1" dirty="0">
                <a:solidFill>
                  <a:srgbClr val="00B4D8"/>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5943600" y="4105656"/>
            <a:ext cx="5742432" cy="960120"/>
          </a:xfrm>
          <a:prstGeom prst="roundRect">
            <a:avLst>
              <a:gd name="adj" fmla="val 5714"/>
            </a:avLst>
          </a:prstGeom>
          <a:solidFill>
            <a:srgbClr val="16304B"/>
          </a:solidFill>
          <a:ln w="12700">
            <a:solidFill>
              <a:srgbClr val="24415E"/>
            </a:solidFill>
            <a:prstDash val="solid"/>
          </a:ln>
        </p:spPr>
        <p:txBody>
          <a:bodyPr/>
          <a:lstStyle/>
          <a:p>
            <a:endParaRPr lang="en-US"/>
          </a:p>
        </p:txBody>
      </p:sp>
      <p:sp>
        <p:nvSpPr>
          <p:cNvPr id="20" name="Text 18"/>
          <p:cNvSpPr/>
          <p:nvPr/>
        </p:nvSpPr>
        <p:spPr>
          <a:xfrm>
            <a:off x="6172200" y="4105656"/>
            <a:ext cx="640080" cy="960120"/>
          </a:xfrm>
          <a:prstGeom prst="rect">
            <a:avLst/>
          </a:prstGeom>
          <a:noFill/>
          <a:ln/>
        </p:spPr>
        <p:txBody>
          <a:bodyPr wrap="square" lIns="0" tIns="0" rIns="0" bIns="0" rtlCol="0" anchor="ctr"/>
          <a:lstStyle/>
          <a:p>
            <a:pPr marL="0" indent="0" algn="ctr">
              <a:buNone/>
            </a:pPr>
            <a:r>
              <a:rPr lang="en-US" sz="2600" b="1" dirty="0">
                <a:solidFill>
                  <a:srgbClr val="00B4D8"/>
                </a:solidFill>
                <a:latin typeface="Calibri" pitchFamily="34" charset="0"/>
                <a:ea typeface="Calibri" pitchFamily="34" charset="-122"/>
                <a:cs typeface="Calibri" pitchFamily="34" charset="-120"/>
              </a:rPr>
              <a:t>3</a:t>
            </a:r>
            <a:endParaRPr lang="en-US" sz="2600" dirty="0"/>
          </a:p>
        </p:txBody>
      </p:sp>
      <p:sp>
        <p:nvSpPr>
          <p:cNvPr id="21" name="Text 19"/>
          <p:cNvSpPr/>
          <p:nvPr/>
        </p:nvSpPr>
        <p:spPr>
          <a:xfrm>
            <a:off x="6903720" y="4105656"/>
            <a:ext cx="4553712" cy="960120"/>
          </a:xfrm>
          <a:prstGeom prst="rect">
            <a:avLst/>
          </a:prstGeom>
          <a:noFill/>
          <a:ln/>
        </p:spPr>
        <p:txBody>
          <a:bodyPr wrap="square" lIns="0" tIns="0" rIns="0" bIns="0" rtlCol="0" anchor="ctr"/>
          <a:lstStyle/>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Structured Output</a:t>
            </a:r>
            <a:endParaRPr lang="en-US" sz="1400" dirty="0"/>
          </a:p>
          <a:p>
            <a:pPr marL="0" indent="0" algn="l">
              <a:spcAft>
                <a:spcPts val="300"/>
              </a:spcAft>
              <a:buNone/>
            </a:pPr>
            <a:r>
              <a:rPr lang="en-US" sz="1400" dirty="0">
                <a:solidFill>
                  <a:srgbClr val="C7D3DE"/>
                </a:solidFill>
                <a:latin typeface="Calibri" pitchFamily="34" charset="0"/>
                <a:ea typeface="Calibri" pitchFamily="34" charset="-122"/>
                <a:cs typeface="Calibri" pitchFamily="34" charset="-120"/>
              </a:rPr>
              <a:t>ICD-10 codes + risk flags</a:t>
            </a:r>
            <a:endParaRPr lang="en-US" sz="1400" dirty="0"/>
          </a:p>
        </p:txBody>
      </p:sp>
      <p:sp>
        <p:nvSpPr>
          <p:cNvPr id="22" name="Shape 20"/>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23" name="Text 21"/>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Chain-of-thought leaves an auditable trail — vital when clinicians, coders, and auditors all follow the same logic.</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04</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Market Momentum (2025–2026)</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2331720"/>
            <a:ext cx="3515258" cy="2468880"/>
          </a:xfrm>
          <a:prstGeom prst="roundRect">
            <a:avLst>
              <a:gd name="adj" fmla="val 2222"/>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8" name="Text 6"/>
          <p:cNvSpPr/>
          <p:nvPr/>
        </p:nvSpPr>
        <p:spPr>
          <a:xfrm>
            <a:off x="502920" y="2587752"/>
            <a:ext cx="3515258" cy="91440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$0.54B→$5B</a:t>
            </a:r>
            <a:endParaRPr lang="en-US" sz="3800" dirty="0"/>
          </a:p>
        </p:txBody>
      </p:sp>
      <p:sp>
        <p:nvSpPr>
          <p:cNvPr id="9" name="Text 7"/>
          <p:cNvSpPr/>
          <p:nvPr/>
        </p:nvSpPr>
        <p:spPr>
          <a:xfrm>
            <a:off x="704088" y="3502152"/>
            <a:ext cx="3112922" cy="5029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Agentic AI in healthcare by 2030</a:t>
            </a:r>
            <a:endParaRPr lang="en-US" sz="1300" dirty="0"/>
          </a:p>
        </p:txBody>
      </p:sp>
      <p:sp>
        <p:nvSpPr>
          <p:cNvPr id="10" name="Text 8"/>
          <p:cNvSpPr/>
          <p:nvPr/>
        </p:nvSpPr>
        <p:spPr>
          <a:xfrm>
            <a:off x="740664" y="3995928"/>
            <a:ext cx="3039770" cy="685800"/>
          </a:xfrm>
          <a:prstGeom prst="rect">
            <a:avLst/>
          </a:prstGeom>
          <a:noFill/>
          <a:ln/>
        </p:spPr>
        <p:txBody>
          <a:bodyPr wrap="square" lIns="0" tIns="0" rIns="0" bIns="0" rtlCol="0" anchor="t"/>
          <a:lstStyle/>
          <a:p>
            <a:pPr marL="0" indent="0" algn="ctr">
              <a:buNone/>
            </a:pPr>
            <a:r>
              <a:rPr lang="en-US" sz="1050" dirty="0">
                <a:solidFill>
                  <a:srgbClr val="C7D3DE"/>
                </a:solidFill>
                <a:latin typeface="Calibri" pitchFamily="34" charset="0"/>
                <a:ea typeface="Calibri" pitchFamily="34" charset="-122"/>
                <a:cs typeface="Calibri" pitchFamily="34" charset="-120"/>
              </a:rPr>
              <a:t>~44% CAGR — the fastest-growing slice of healthcare AI</a:t>
            </a:r>
            <a:endParaRPr lang="en-US" sz="1050" dirty="0"/>
          </a:p>
        </p:txBody>
      </p:sp>
      <p:sp>
        <p:nvSpPr>
          <p:cNvPr id="11" name="Shape 9"/>
          <p:cNvSpPr/>
          <p:nvPr/>
        </p:nvSpPr>
        <p:spPr>
          <a:xfrm>
            <a:off x="4338218" y="2331720"/>
            <a:ext cx="3515258" cy="2468880"/>
          </a:xfrm>
          <a:prstGeom prst="roundRect">
            <a:avLst>
              <a:gd name="adj" fmla="val 2222"/>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2" name="Text 10"/>
          <p:cNvSpPr/>
          <p:nvPr/>
        </p:nvSpPr>
        <p:spPr>
          <a:xfrm>
            <a:off x="4338218" y="2587752"/>
            <a:ext cx="3515258" cy="91440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50%</a:t>
            </a:r>
            <a:endParaRPr lang="en-US" sz="3800" dirty="0"/>
          </a:p>
        </p:txBody>
      </p:sp>
      <p:sp>
        <p:nvSpPr>
          <p:cNvPr id="13" name="Text 11"/>
          <p:cNvSpPr/>
          <p:nvPr/>
        </p:nvSpPr>
        <p:spPr>
          <a:xfrm>
            <a:off x="4539386" y="3502152"/>
            <a:ext cx="3112922" cy="5029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Healthcare orgs with GenAI in production</a:t>
            </a:r>
            <a:endParaRPr lang="en-US" sz="1300" dirty="0"/>
          </a:p>
        </p:txBody>
      </p:sp>
      <p:sp>
        <p:nvSpPr>
          <p:cNvPr id="14" name="Text 12"/>
          <p:cNvSpPr/>
          <p:nvPr/>
        </p:nvSpPr>
        <p:spPr>
          <a:xfrm>
            <a:off x="4575962" y="3995928"/>
            <a:ext cx="3039770" cy="685800"/>
          </a:xfrm>
          <a:prstGeom prst="rect">
            <a:avLst/>
          </a:prstGeom>
          <a:noFill/>
          <a:ln/>
        </p:spPr>
        <p:txBody>
          <a:bodyPr wrap="square" lIns="0" tIns="0" rIns="0" bIns="0" rtlCol="0" anchor="t"/>
          <a:lstStyle/>
          <a:p>
            <a:pPr marL="0" indent="0" algn="ctr">
              <a:buNone/>
            </a:pPr>
            <a:r>
              <a:rPr lang="en-US" sz="1050" dirty="0">
                <a:solidFill>
                  <a:srgbClr val="C7D3DE"/>
                </a:solidFill>
                <a:latin typeface="Calibri" pitchFamily="34" charset="0"/>
                <a:ea typeface="Calibri" pitchFamily="34" charset="-122"/>
                <a:cs typeface="Calibri" pitchFamily="34" charset="-120"/>
              </a:rPr>
              <a:t>McKinsey Q4 2025, up from just 25% in 2023</a:t>
            </a:r>
            <a:endParaRPr lang="en-US" sz="1050" dirty="0"/>
          </a:p>
        </p:txBody>
      </p:sp>
      <p:sp>
        <p:nvSpPr>
          <p:cNvPr id="15" name="Shape 13"/>
          <p:cNvSpPr/>
          <p:nvPr/>
        </p:nvSpPr>
        <p:spPr>
          <a:xfrm>
            <a:off x="8173517" y="2331720"/>
            <a:ext cx="3515258" cy="2468880"/>
          </a:xfrm>
          <a:prstGeom prst="roundRect">
            <a:avLst>
              <a:gd name="adj" fmla="val 2222"/>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6" name="Text 14"/>
          <p:cNvSpPr/>
          <p:nvPr/>
        </p:nvSpPr>
        <p:spPr>
          <a:xfrm>
            <a:off x="8173517" y="2587752"/>
            <a:ext cx="3515258" cy="914400"/>
          </a:xfrm>
          <a:prstGeom prst="rect">
            <a:avLst/>
          </a:prstGeom>
          <a:noFill/>
          <a:ln/>
        </p:spPr>
        <p:txBody>
          <a:bodyPr wrap="square" lIns="0" tIns="0" rIns="0" bIns="0" rtlCol="0" anchor="ctr"/>
          <a:lstStyle/>
          <a:p>
            <a:pPr marL="0" indent="0" algn="ctr">
              <a:buNone/>
            </a:pPr>
            <a:r>
              <a:rPr lang="en-US" sz="3800" b="1" dirty="0">
                <a:solidFill>
                  <a:srgbClr val="00B4D8"/>
                </a:solidFill>
                <a:latin typeface="Calibri" pitchFamily="34" charset="0"/>
                <a:ea typeface="Calibri" pitchFamily="34" charset="-122"/>
                <a:cs typeface="Calibri" pitchFamily="34" charset="-120"/>
              </a:rPr>
              <a:t>$200–360B</a:t>
            </a:r>
            <a:endParaRPr lang="en-US" sz="3800" dirty="0"/>
          </a:p>
        </p:txBody>
      </p:sp>
      <p:sp>
        <p:nvSpPr>
          <p:cNvPr id="17" name="Text 15"/>
          <p:cNvSpPr/>
          <p:nvPr/>
        </p:nvSpPr>
        <p:spPr>
          <a:xfrm>
            <a:off x="8374685" y="3502152"/>
            <a:ext cx="3112922" cy="50292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Potential annual U.S. healthcare savings</a:t>
            </a:r>
            <a:endParaRPr lang="en-US" sz="1300" dirty="0"/>
          </a:p>
        </p:txBody>
      </p:sp>
      <p:sp>
        <p:nvSpPr>
          <p:cNvPr id="18" name="Text 16"/>
          <p:cNvSpPr/>
          <p:nvPr/>
        </p:nvSpPr>
        <p:spPr>
          <a:xfrm>
            <a:off x="8411261" y="3995928"/>
            <a:ext cx="3039770" cy="685800"/>
          </a:xfrm>
          <a:prstGeom prst="rect">
            <a:avLst/>
          </a:prstGeom>
          <a:noFill/>
          <a:ln/>
        </p:spPr>
        <p:txBody>
          <a:bodyPr wrap="square" lIns="0" tIns="0" rIns="0" bIns="0" rtlCol="0" anchor="t"/>
          <a:lstStyle/>
          <a:p>
            <a:pPr marL="0" indent="0" algn="ctr">
              <a:buNone/>
            </a:pPr>
            <a:r>
              <a:rPr lang="en-US" sz="1050" dirty="0">
                <a:solidFill>
                  <a:srgbClr val="C7D3DE"/>
                </a:solidFill>
                <a:latin typeface="Calibri" pitchFamily="34" charset="0"/>
                <a:ea typeface="Calibri" pitchFamily="34" charset="-122"/>
                <a:cs typeface="Calibri" pitchFamily="34" charset="-120"/>
              </a:rPr>
              <a:t>Payers alone capture an estimated $80–110B</a:t>
            </a:r>
            <a:endParaRPr lang="en-US" sz="1050" dirty="0"/>
          </a:p>
        </p:txBody>
      </p:sp>
      <p:sp>
        <p:nvSpPr>
          <p:cNvPr id="19" name="Shape 17"/>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20" name="Text 18"/>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The market is past early adoption — payers moving now will own the operational efficiency gains.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05</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Three Opportunities for Cotiviti</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1417320"/>
            <a:ext cx="3515258" cy="4343400"/>
          </a:xfrm>
          <a:prstGeom prst="roundRect">
            <a:avLst>
              <a:gd name="adj" fmla="val 1561"/>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8" name="Text 6"/>
          <p:cNvSpPr/>
          <p:nvPr/>
        </p:nvSpPr>
        <p:spPr>
          <a:xfrm>
            <a:off x="758952" y="1673352"/>
            <a:ext cx="3003194" cy="640080"/>
          </a:xfrm>
          <a:prstGeom prst="rect">
            <a:avLst/>
          </a:prstGeom>
          <a:noFill/>
          <a:ln/>
        </p:spPr>
        <p:txBody>
          <a:bodyPr wrap="square" lIns="0" tIns="0" rIns="0" bIns="0" rtlCol="0" anchor="t"/>
          <a:lstStyle/>
          <a:p>
            <a:pPr marL="0" indent="0" algn="l">
              <a:buNone/>
            </a:pPr>
            <a:r>
              <a:rPr lang="en-US" sz="1650" b="1" dirty="0">
                <a:solidFill>
                  <a:srgbClr val="FFFFFF"/>
                </a:solidFill>
                <a:latin typeface="Calibri" pitchFamily="34" charset="0"/>
                <a:ea typeface="Calibri" pitchFamily="34" charset="-122"/>
                <a:cs typeface="Calibri" pitchFamily="34" charset="-120"/>
              </a:rPr>
              <a:t>Payment Integrity</a:t>
            </a:r>
            <a:endParaRPr lang="en-US" sz="1650" dirty="0"/>
          </a:p>
        </p:txBody>
      </p:sp>
      <p:sp>
        <p:nvSpPr>
          <p:cNvPr id="9" name="Text 7"/>
          <p:cNvSpPr/>
          <p:nvPr/>
        </p:nvSpPr>
        <p:spPr>
          <a:xfrm>
            <a:off x="758952" y="2331720"/>
            <a:ext cx="3003194" cy="548640"/>
          </a:xfrm>
          <a:prstGeom prst="rect">
            <a:avLst/>
          </a:prstGeom>
          <a:noFill/>
          <a:ln/>
        </p:spPr>
        <p:txBody>
          <a:bodyPr wrap="square" lIns="0" tIns="0" rIns="0" bIns="0" rtlCol="0" anchor="ctr"/>
          <a:lstStyle/>
          <a:p>
            <a:pPr marL="0" indent="0" algn="l">
              <a:buNone/>
            </a:pPr>
            <a:r>
              <a:rPr lang="en-US" sz="2500" b="1" dirty="0">
                <a:solidFill>
                  <a:srgbClr val="00B4D8"/>
                </a:solidFill>
                <a:latin typeface="Calibri" pitchFamily="34" charset="0"/>
                <a:ea typeface="Calibri" pitchFamily="34" charset="-122"/>
                <a:cs typeface="Calibri" pitchFamily="34" charset="-120"/>
              </a:rPr>
              <a:t>$31.7B</a:t>
            </a:r>
            <a:endParaRPr lang="en-US" sz="2500" dirty="0"/>
          </a:p>
        </p:txBody>
      </p:sp>
      <p:sp>
        <p:nvSpPr>
          <p:cNvPr id="10" name="Text 8"/>
          <p:cNvSpPr/>
          <p:nvPr/>
        </p:nvSpPr>
        <p:spPr>
          <a:xfrm>
            <a:off x="758952" y="2898648"/>
            <a:ext cx="3003194" cy="457200"/>
          </a:xfrm>
          <a:prstGeom prst="rect">
            <a:avLst/>
          </a:prstGeom>
          <a:noFill/>
          <a:ln/>
        </p:spPr>
        <p:txBody>
          <a:bodyPr wrap="square" lIns="0" tIns="0" rIns="0" bIns="0" rtlCol="0" anchor="t"/>
          <a:lstStyle/>
          <a:p>
            <a:pPr marL="0" indent="0" algn="l">
              <a:buNone/>
            </a:pPr>
            <a:r>
              <a:rPr lang="en-US" sz="1100" b="1" dirty="0">
                <a:solidFill>
                  <a:srgbClr val="9FB3C8"/>
                </a:solidFill>
                <a:latin typeface="Calibri" pitchFamily="34" charset="0"/>
                <a:ea typeface="Calibri" pitchFamily="34" charset="-122"/>
                <a:cs typeface="Calibri" pitchFamily="34" charset="-120"/>
              </a:rPr>
              <a:t>Medicare FFS improper payments, FY2024</a:t>
            </a:r>
            <a:endParaRPr lang="en-US" sz="1100" dirty="0"/>
          </a:p>
        </p:txBody>
      </p:sp>
      <p:sp>
        <p:nvSpPr>
          <p:cNvPr id="11" name="Shape 9"/>
          <p:cNvSpPr/>
          <p:nvPr/>
        </p:nvSpPr>
        <p:spPr>
          <a:xfrm>
            <a:off x="758952" y="3383280"/>
            <a:ext cx="3003194" cy="0"/>
          </a:xfrm>
          <a:prstGeom prst="line">
            <a:avLst/>
          </a:prstGeom>
          <a:noFill/>
          <a:ln w="9525">
            <a:solidFill>
              <a:srgbClr val="2A4860"/>
            </a:solidFill>
            <a:prstDash val="solid"/>
          </a:ln>
        </p:spPr>
        <p:txBody>
          <a:bodyPr/>
          <a:lstStyle/>
          <a:p>
            <a:endParaRPr lang="en-US"/>
          </a:p>
        </p:txBody>
      </p:sp>
      <p:sp>
        <p:nvSpPr>
          <p:cNvPr id="12" name="Text 10"/>
          <p:cNvSpPr/>
          <p:nvPr/>
        </p:nvSpPr>
        <p:spPr>
          <a:xfrm>
            <a:off x="758952" y="3520440"/>
            <a:ext cx="3003194" cy="2011680"/>
          </a:xfrm>
          <a:prstGeom prst="rect">
            <a:avLst/>
          </a:prstGeom>
          <a:noFill/>
          <a:ln/>
        </p:spPr>
        <p:txBody>
          <a:bodyPr wrap="square" lIns="0" tIns="0" rIns="0" bIns="0" rtlCol="0" anchor="t"/>
          <a:lstStyle/>
          <a:p>
            <a:pPr marL="0" indent="0" algn="l">
              <a:lnSpc>
                <a:spcPct val="112000"/>
              </a:lnSpc>
              <a:buNone/>
            </a:pPr>
            <a:r>
              <a:rPr lang="en-US" sz="1200" dirty="0">
                <a:solidFill>
                  <a:srgbClr val="C7D3DE"/>
                </a:solidFill>
                <a:latin typeface="Calibri" pitchFamily="34" charset="0"/>
                <a:ea typeface="Calibri" pitchFamily="34" charset="-122"/>
                <a:cs typeface="Calibri" pitchFamily="34" charset="-120"/>
              </a:rPr>
              <a:t>Most errors trace to documentation gaps, not fraud. An agent that retrieves records, checks claims against policy, and assembles the evidence is aimed straight at the cause.</a:t>
            </a:r>
            <a:endParaRPr lang="en-US" sz="1200" dirty="0"/>
          </a:p>
        </p:txBody>
      </p:sp>
      <p:sp>
        <p:nvSpPr>
          <p:cNvPr id="13" name="Shape 11"/>
          <p:cNvSpPr/>
          <p:nvPr/>
        </p:nvSpPr>
        <p:spPr>
          <a:xfrm>
            <a:off x="4338218" y="1417320"/>
            <a:ext cx="3515258" cy="4343400"/>
          </a:xfrm>
          <a:prstGeom prst="roundRect">
            <a:avLst>
              <a:gd name="adj" fmla="val 1561"/>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4" name="Text 12"/>
          <p:cNvSpPr/>
          <p:nvPr/>
        </p:nvSpPr>
        <p:spPr>
          <a:xfrm>
            <a:off x="4594250" y="1673352"/>
            <a:ext cx="3003194" cy="640080"/>
          </a:xfrm>
          <a:prstGeom prst="rect">
            <a:avLst/>
          </a:prstGeom>
          <a:noFill/>
          <a:ln/>
        </p:spPr>
        <p:txBody>
          <a:bodyPr wrap="square" lIns="0" tIns="0" rIns="0" bIns="0" rtlCol="0" anchor="t"/>
          <a:lstStyle/>
          <a:p>
            <a:pPr marL="0" indent="0" algn="l">
              <a:buNone/>
            </a:pPr>
            <a:r>
              <a:rPr lang="en-US" sz="1650" b="1" dirty="0">
                <a:solidFill>
                  <a:srgbClr val="FFFFFF"/>
                </a:solidFill>
                <a:latin typeface="Calibri" pitchFamily="34" charset="0"/>
                <a:ea typeface="Calibri" pitchFamily="34" charset="-122"/>
                <a:cs typeface="Calibri" pitchFamily="34" charset="-120"/>
              </a:rPr>
              <a:t>Clinical Decision Support</a:t>
            </a:r>
            <a:endParaRPr lang="en-US" sz="1650" dirty="0"/>
          </a:p>
        </p:txBody>
      </p:sp>
      <p:sp>
        <p:nvSpPr>
          <p:cNvPr id="15" name="Text 13"/>
          <p:cNvSpPr/>
          <p:nvPr/>
        </p:nvSpPr>
        <p:spPr>
          <a:xfrm>
            <a:off x="4594250" y="2331720"/>
            <a:ext cx="3003194" cy="548640"/>
          </a:xfrm>
          <a:prstGeom prst="rect">
            <a:avLst/>
          </a:prstGeom>
          <a:noFill/>
          <a:ln/>
        </p:spPr>
        <p:txBody>
          <a:bodyPr wrap="square" lIns="0" tIns="0" rIns="0" bIns="0" rtlCol="0" anchor="ctr"/>
          <a:lstStyle/>
          <a:p>
            <a:pPr marL="0" indent="0" algn="l">
              <a:buNone/>
            </a:pPr>
            <a:r>
              <a:rPr lang="en-US" sz="2500" b="1" dirty="0">
                <a:solidFill>
                  <a:srgbClr val="00B4D8"/>
                </a:solidFill>
                <a:latin typeface="Calibri" pitchFamily="34" charset="0"/>
                <a:ea typeface="Calibri" pitchFamily="34" charset="-122"/>
                <a:cs typeface="Calibri" pitchFamily="34" charset="-120"/>
              </a:rPr>
              <a:t>Audit-ready</a:t>
            </a:r>
            <a:endParaRPr lang="en-US" sz="2500" dirty="0"/>
          </a:p>
        </p:txBody>
      </p:sp>
      <p:sp>
        <p:nvSpPr>
          <p:cNvPr id="16" name="Text 14"/>
          <p:cNvSpPr/>
          <p:nvPr/>
        </p:nvSpPr>
        <p:spPr>
          <a:xfrm>
            <a:off x="4594250" y="2898648"/>
            <a:ext cx="3003194" cy="457200"/>
          </a:xfrm>
          <a:prstGeom prst="rect">
            <a:avLst/>
          </a:prstGeom>
          <a:noFill/>
          <a:ln/>
        </p:spPr>
        <p:txBody>
          <a:bodyPr wrap="square" lIns="0" tIns="0" rIns="0" bIns="0" rtlCol="0" anchor="t"/>
          <a:lstStyle/>
          <a:p>
            <a:pPr marL="0" indent="0" algn="l">
              <a:buNone/>
            </a:pPr>
            <a:r>
              <a:rPr lang="en-US" sz="1100" b="1" dirty="0">
                <a:solidFill>
                  <a:srgbClr val="9FB3C8"/>
                </a:solidFill>
                <a:latin typeface="Calibri" pitchFamily="34" charset="0"/>
                <a:ea typeface="Calibri" pitchFamily="34" charset="-122"/>
                <a:cs typeface="Calibri" pitchFamily="34" charset="-120"/>
              </a:rPr>
              <a:t>Reasoning a clinician can verify</a:t>
            </a:r>
            <a:endParaRPr lang="en-US" sz="1100" dirty="0"/>
          </a:p>
        </p:txBody>
      </p:sp>
      <p:sp>
        <p:nvSpPr>
          <p:cNvPr id="17" name="Shape 15"/>
          <p:cNvSpPr/>
          <p:nvPr/>
        </p:nvSpPr>
        <p:spPr>
          <a:xfrm>
            <a:off x="4594250" y="3383280"/>
            <a:ext cx="3003194" cy="0"/>
          </a:xfrm>
          <a:prstGeom prst="line">
            <a:avLst/>
          </a:prstGeom>
          <a:noFill/>
          <a:ln w="9525">
            <a:solidFill>
              <a:srgbClr val="2A4860"/>
            </a:solidFill>
            <a:prstDash val="solid"/>
          </a:ln>
        </p:spPr>
        <p:txBody>
          <a:bodyPr/>
          <a:lstStyle/>
          <a:p>
            <a:endParaRPr lang="en-US"/>
          </a:p>
        </p:txBody>
      </p:sp>
      <p:sp>
        <p:nvSpPr>
          <p:cNvPr id="18" name="Text 16"/>
          <p:cNvSpPr/>
          <p:nvPr/>
        </p:nvSpPr>
        <p:spPr>
          <a:xfrm>
            <a:off x="4594250" y="3520440"/>
            <a:ext cx="3003194" cy="2011680"/>
          </a:xfrm>
          <a:prstGeom prst="rect">
            <a:avLst/>
          </a:prstGeom>
          <a:noFill/>
          <a:ln/>
        </p:spPr>
        <p:txBody>
          <a:bodyPr wrap="square" lIns="0" tIns="0" rIns="0" bIns="0" rtlCol="0" anchor="t"/>
          <a:lstStyle/>
          <a:p>
            <a:pPr marL="0" indent="0" algn="l">
              <a:lnSpc>
                <a:spcPct val="112000"/>
              </a:lnSpc>
              <a:buNone/>
            </a:pPr>
            <a:r>
              <a:rPr lang="en-US" sz="1200" dirty="0">
                <a:solidFill>
                  <a:srgbClr val="C7D3DE"/>
                </a:solidFill>
                <a:latin typeface="Calibri" pitchFamily="34" charset="0"/>
                <a:ea typeface="Calibri" pitchFamily="34" charset="-122"/>
                <a:cs typeface="Calibri" pitchFamily="34" charset="-120"/>
              </a:rPr>
              <a:t>Chain-of-thought agents surface differential diagnoses line by line. Bedi et al. (2025) flag real gaps in LLM medical reasoning — so supervised deployment is the right posture today.</a:t>
            </a:r>
            <a:endParaRPr lang="en-US" sz="1200" dirty="0"/>
          </a:p>
        </p:txBody>
      </p:sp>
      <p:sp>
        <p:nvSpPr>
          <p:cNvPr id="19" name="Shape 17"/>
          <p:cNvSpPr/>
          <p:nvPr/>
        </p:nvSpPr>
        <p:spPr>
          <a:xfrm>
            <a:off x="8173517" y="1417320"/>
            <a:ext cx="3515258" cy="4343400"/>
          </a:xfrm>
          <a:prstGeom prst="roundRect">
            <a:avLst>
              <a:gd name="adj" fmla="val 1561"/>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20" name="Text 18"/>
          <p:cNvSpPr/>
          <p:nvPr/>
        </p:nvSpPr>
        <p:spPr>
          <a:xfrm>
            <a:off x="8429549" y="1673352"/>
            <a:ext cx="3003194" cy="640080"/>
          </a:xfrm>
          <a:prstGeom prst="rect">
            <a:avLst/>
          </a:prstGeom>
          <a:noFill/>
          <a:ln/>
        </p:spPr>
        <p:txBody>
          <a:bodyPr wrap="square" lIns="0" tIns="0" rIns="0" bIns="0" rtlCol="0" anchor="t"/>
          <a:lstStyle/>
          <a:p>
            <a:pPr marL="0" indent="0" algn="l">
              <a:buNone/>
            </a:pPr>
            <a:r>
              <a:rPr lang="en-US" sz="1650" b="1" dirty="0">
                <a:solidFill>
                  <a:srgbClr val="FFFFFF"/>
                </a:solidFill>
                <a:latin typeface="Calibri" pitchFamily="34" charset="0"/>
                <a:ea typeface="Calibri" pitchFamily="34" charset="-122"/>
                <a:cs typeface="Calibri" pitchFamily="34" charset="-120"/>
              </a:rPr>
              <a:t>Fraud &amp; Anomaly Detection</a:t>
            </a:r>
            <a:endParaRPr lang="en-US" sz="1650" dirty="0"/>
          </a:p>
        </p:txBody>
      </p:sp>
      <p:sp>
        <p:nvSpPr>
          <p:cNvPr id="21" name="Text 19"/>
          <p:cNvSpPr/>
          <p:nvPr/>
        </p:nvSpPr>
        <p:spPr>
          <a:xfrm>
            <a:off x="8429549" y="2331720"/>
            <a:ext cx="3003194" cy="548640"/>
          </a:xfrm>
          <a:prstGeom prst="rect">
            <a:avLst/>
          </a:prstGeom>
          <a:noFill/>
          <a:ln/>
        </p:spPr>
        <p:txBody>
          <a:bodyPr wrap="square" lIns="0" tIns="0" rIns="0" bIns="0" rtlCol="0" anchor="ctr"/>
          <a:lstStyle/>
          <a:p>
            <a:pPr marL="0" indent="0" algn="l">
              <a:buNone/>
            </a:pPr>
            <a:r>
              <a:rPr lang="en-US" sz="2500" b="1" dirty="0">
                <a:solidFill>
                  <a:srgbClr val="00B4D8"/>
                </a:solidFill>
                <a:latin typeface="Calibri" pitchFamily="34" charset="0"/>
                <a:ea typeface="Calibri" pitchFamily="34" charset="-122"/>
                <a:cs typeface="Calibri" pitchFamily="34" charset="-120"/>
              </a:rPr>
              <a:t>$1.6B→$10B</a:t>
            </a:r>
            <a:endParaRPr lang="en-US" sz="2500" dirty="0"/>
          </a:p>
        </p:txBody>
      </p:sp>
      <p:sp>
        <p:nvSpPr>
          <p:cNvPr id="22" name="Text 20"/>
          <p:cNvSpPr/>
          <p:nvPr/>
        </p:nvSpPr>
        <p:spPr>
          <a:xfrm>
            <a:off x="8429549" y="2898648"/>
            <a:ext cx="3003194" cy="457200"/>
          </a:xfrm>
          <a:prstGeom prst="rect">
            <a:avLst/>
          </a:prstGeom>
          <a:noFill/>
          <a:ln/>
        </p:spPr>
        <p:txBody>
          <a:bodyPr wrap="square" lIns="0" tIns="0" rIns="0" bIns="0" rtlCol="0" anchor="t"/>
          <a:lstStyle/>
          <a:p>
            <a:pPr marL="0" indent="0" algn="l">
              <a:buNone/>
            </a:pPr>
            <a:r>
              <a:rPr lang="en-US" sz="1100" b="1" dirty="0">
                <a:solidFill>
                  <a:srgbClr val="9FB3C8"/>
                </a:solidFill>
                <a:latin typeface="Calibri" pitchFamily="34" charset="0"/>
                <a:ea typeface="Calibri" pitchFamily="34" charset="-122"/>
                <a:cs typeface="Calibri" pitchFamily="34" charset="-120"/>
              </a:rPr>
              <a:t>Skin-substitute billing, 2022 to 2024</a:t>
            </a:r>
            <a:endParaRPr lang="en-US" sz="1100" dirty="0"/>
          </a:p>
        </p:txBody>
      </p:sp>
      <p:sp>
        <p:nvSpPr>
          <p:cNvPr id="23" name="Shape 21"/>
          <p:cNvSpPr/>
          <p:nvPr/>
        </p:nvSpPr>
        <p:spPr>
          <a:xfrm>
            <a:off x="8429549" y="3383280"/>
            <a:ext cx="3003194" cy="0"/>
          </a:xfrm>
          <a:prstGeom prst="line">
            <a:avLst/>
          </a:prstGeom>
          <a:noFill/>
          <a:ln w="9525">
            <a:solidFill>
              <a:srgbClr val="2A4860"/>
            </a:solidFill>
            <a:prstDash val="solid"/>
          </a:ln>
        </p:spPr>
        <p:txBody>
          <a:bodyPr/>
          <a:lstStyle/>
          <a:p>
            <a:endParaRPr lang="en-US"/>
          </a:p>
        </p:txBody>
      </p:sp>
      <p:sp>
        <p:nvSpPr>
          <p:cNvPr id="24" name="Text 22"/>
          <p:cNvSpPr/>
          <p:nvPr/>
        </p:nvSpPr>
        <p:spPr>
          <a:xfrm>
            <a:off x="8429549" y="3520440"/>
            <a:ext cx="3003194" cy="2011680"/>
          </a:xfrm>
          <a:prstGeom prst="rect">
            <a:avLst/>
          </a:prstGeom>
          <a:noFill/>
          <a:ln/>
        </p:spPr>
        <p:txBody>
          <a:bodyPr wrap="square" lIns="0" tIns="0" rIns="0" bIns="0" rtlCol="0" anchor="t"/>
          <a:lstStyle/>
          <a:p>
            <a:pPr marL="0" indent="0" algn="l">
              <a:lnSpc>
                <a:spcPct val="112000"/>
              </a:lnSpc>
              <a:buNone/>
            </a:pPr>
            <a:r>
              <a:rPr lang="en-US" sz="1200" dirty="0">
                <a:solidFill>
                  <a:srgbClr val="C7D3DE"/>
                </a:solidFill>
                <a:latin typeface="Calibri" pitchFamily="34" charset="0"/>
                <a:ea typeface="Calibri" pitchFamily="34" charset="-122"/>
                <a:cs typeface="Calibri" pitchFamily="34" charset="-120"/>
              </a:rPr>
              <a:t>A time-series agent watching for that curve would have flagged the anomaly roughly two years before the total reached ten figures.</a:t>
            </a:r>
            <a:endParaRPr lang="en-US" sz="1200" dirty="0"/>
          </a:p>
        </p:txBody>
      </p:sp>
      <p:sp>
        <p:nvSpPr>
          <p:cNvPr id="25" name="Shape 23"/>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26" name="Text 24"/>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Each opportunity maps directly onto Cotiviti's existing TPO business lines.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06</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Three Threats to Design Around</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1417320"/>
            <a:ext cx="3515258" cy="4343400"/>
          </a:xfrm>
          <a:prstGeom prst="roundRect">
            <a:avLst>
              <a:gd name="adj" fmla="val 1561"/>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8" name="Text 6"/>
          <p:cNvSpPr/>
          <p:nvPr/>
        </p:nvSpPr>
        <p:spPr>
          <a:xfrm>
            <a:off x="758952" y="1691640"/>
            <a:ext cx="1960778" cy="6400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Hallucination</a:t>
            </a:r>
            <a:endParaRPr lang="en-US" sz="1600" dirty="0"/>
          </a:p>
        </p:txBody>
      </p:sp>
      <p:sp>
        <p:nvSpPr>
          <p:cNvPr id="9" name="Shape 7"/>
          <p:cNvSpPr/>
          <p:nvPr/>
        </p:nvSpPr>
        <p:spPr>
          <a:xfrm>
            <a:off x="2920898" y="1728216"/>
            <a:ext cx="841248" cy="365760"/>
          </a:xfrm>
          <a:prstGeom prst="roundRect">
            <a:avLst>
              <a:gd name="adj" fmla="val 50000"/>
            </a:avLst>
          </a:prstGeom>
          <a:solidFill>
            <a:srgbClr val="EF5350"/>
          </a:solidFill>
          <a:ln/>
        </p:spPr>
        <p:txBody>
          <a:bodyPr/>
          <a:lstStyle/>
          <a:p>
            <a:endParaRPr lang="en-US"/>
          </a:p>
        </p:txBody>
      </p:sp>
      <p:sp>
        <p:nvSpPr>
          <p:cNvPr id="10" name="Text 8"/>
          <p:cNvSpPr/>
          <p:nvPr/>
        </p:nvSpPr>
        <p:spPr>
          <a:xfrm>
            <a:off x="2920898" y="1728216"/>
            <a:ext cx="841248"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11" name="Shape 9"/>
          <p:cNvSpPr/>
          <p:nvPr/>
        </p:nvSpPr>
        <p:spPr>
          <a:xfrm>
            <a:off x="758952" y="2423160"/>
            <a:ext cx="3003194" cy="0"/>
          </a:xfrm>
          <a:prstGeom prst="line">
            <a:avLst/>
          </a:prstGeom>
          <a:noFill/>
          <a:ln w="9525">
            <a:solidFill>
              <a:srgbClr val="2A4860"/>
            </a:solidFill>
            <a:prstDash val="solid"/>
          </a:ln>
        </p:spPr>
        <p:txBody>
          <a:bodyPr/>
          <a:lstStyle/>
          <a:p>
            <a:endParaRPr lang="en-US"/>
          </a:p>
        </p:txBody>
      </p:sp>
      <p:sp>
        <p:nvSpPr>
          <p:cNvPr id="12" name="Text 10"/>
          <p:cNvSpPr/>
          <p:nvPr/>
        </p:nvSpPr>
        <p:spPr>
          <a:xfrm>
            <a:off x="758952" y="2587752"/>
            <a:ext cx="3003194" cy="2286000"/>
          </a:xfrm>
          <a:prstGeom prst="rect">
            <a:avLst/>
          </a:prstGeom>
          <a:noFill/>
          <a:ln/>
        </p:spPr>
        <p:txBody>
          <a:bodyPr wrap="square" lIns="0" tIns="0" rIns="0" bIns="0" rtlCol="0" anchor="t"/>
          <a:lstStyle/>
          <a:p>
            <a:pPr marL="0" indent="0" algn="l">
              <a:lnSpc>
                <a:spcPct val="113000"/>
              </a:lnSpc>
              <a:buNone/>
            </a:pPr>
            <a:r>
              <a:rPr lang="en-US" sz="1200" dirty="0">
                <a:solidFill>
                  <a:srgbClr val="C7D3DE"/>
                </a:solidFill>
                <a:latin typeface="Calibri" pitchFamily="34" charset="0"/>
                <a:ea typeface="Calibri" pitchFamily="34" charset="-122"/>
                <a:cs typeface="Calibri" pitchFamily="34" charset="-120"/>
              </a:rPr>
              <a:t>Omar et al. (2025): across six models, planted false details were repeated or elaborated in 50–82% of cases. A fabricated ICD-10 code is not a minor error.</a:t>
            </a:r>
            <a:endParaRPr lang="en-US" sz="1200" dirty="0"/>
          </a:p>
        </p:txBody>
      </p:sp>
      <p:sp>
        <p:nvSpPr>
          <p:cNvPr id="13" name="Text 11"/>
          <p:cNvSpPr/>
          <p:nvPr/>
        </p:nvSpPr>
        <p:spPr>
          <a:xfrm>
            <a:off x="758952" y="4892040"/>
            <a:ext cx="3003194" cy="685800"/>
          </a:xfrm>
          <a:prstGeom prst="rect">
            <a:avLst/>
          </a:prstGeom>
          <a:noFill/>
          <a:ln/>
        </p:spPr>
        <p:txBody>
          <a:bodyPr wrap="square" lIns="0" tIns="0" rIns="0" bIns="0" rtlCol="0" anchor="t"/>
          <a:lstStyle/>
          <a:p>
            <a:pPr marL="0" indent="0" algn="l">
              <a:lnSpc>
                <a:spcPct val="108000"/>
              </a:lnSpc>
              <a:buNone/>
            </a:pPr>
            <a:r>
              <a:rPr lang="en-US" sz="1100" b="1" i="1" dirty="0">
                <a:solidFill>
                  <a:srgbClr val="00B4D8"/>
                </a:solidFill>
                <a:latin typeface="Calibri" pitchFamily="34" charset="0"/>
                <a:ea typeface="Calibri" pitchFamily="34" charset="-122"/>
                <a:cs typeface="Calibri" pitchFamily="34" charset="-120"/>
              </a:rPr>
              <a:t>Mitigation: retrieval grounding + human review.</a:t>
            </a:r>
            <a:endParaRPr lang="en-US" sz="1100" dirty="0"/>
          </a:p>
        </p:txBody>
      </p:sp>
      <p:sp>
        <p:nvSpPr>
          <p:cNvPr id="14" name="Shape 12"/>
          <p:cNvSpPr/>
          <p:nvPr/>
        </p:nvSpPr>
        <p:spPr>
          <a:xfrm>
            <a:off x="4338218" y="1417320"/>
            <a:ext cx="3515258" cy="4343400"/>
          </a:xfrm>
          <a:prstGeom prst="roundRect">
            <a:avLst>
              <a:gd name="adj" fmla="val 1561"/>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5" name="Text 13"/>
          <p:cNvSpPr/>
          <p:nvPr/>
        </p:nvSpPr>
        <p:spPr>
          <a:xfrm>
            <a:off x="4594250" y="1691640"/>
            <a:ext cx="1960778" cy="6400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HIPAA &amp; Regulatory</a:t>
            </a:r>
            <a:endParaRPr lang="en-US" sz="1600" dirty="0"/>
          </a:p>
        </p:txBody>
      </p:sp>
      <p:sp>
        <p:nvSpPr>
          <p:cNvPr id="16" name="Shape 14"/>
          <p:cNvSpPr/>
          <p:nvPr/>
        </p:nvSpPr>
        <p:spPr>
          <a:xfrm>
            <a:off x="6454445" y="1728216"/>
            <a:ext cx="1143000" cy="365760"/>
          </a:xfrm>
          <a:prstGeom prst="roundRect">
            <a:avLst>
              <a:gd name="adj" fmla="val 50000"/>
            </a:avLst>
          </a:prstGeom>
          <a:solidFill>
            <a:srgbClr val="F4A338"/>
          </a:solidFill>
          <a:ln/>
        </p:spPr>
        <p:txBody>
          <a:bodyPr/>
          <a:lstStyle/>
          <a:p>
            <a:endParaRPr lang="en-US"/>
          </a:p>
        </p:txBody>
      </p:sp>
      <p:sp>
        <p:nvSpPr>
          <p:cNvPr id="17" name="Text 15"/>
          <p:cNvSpPr/>
          <p:nvPr/>
        </p:nvSpPr>
        <p:spPr>
          <a:xfrm>
            <a:off x="6454445" y="1728216"/>
            <a:ext cx="11430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MED-HIGH</a:t>
            </a:r>
            <a:endParaRPr lang="en-US" sz="1050" dirty="0"/>
          </a:p>
        </p:txBody>
      </p:sp>
      <p:sp>
        <p:nvSpPr>
          <p:cNvPr id="18" name="Shape 16"/>
          <p:cNvSpPr/>
          <p:nvPr/>
        </p:nvSpPr>
        <p:spPr>
          <a:xfrm>
            <a:off x="4594250" y="2423160"/>
            <a:ext cx="3003194" cy="0"/>
          </a:xfrm>
          <a:prstGeom prst="line">
            <a:avLst/>
          </a:prstGeom>
          <a:noFill/>
          <a:ln w="9525">
            <a:solidFill>
              <a:srgbClr val="2A4860"/>
            </a:solidFill>
            <a:prstDash val="solid"/>
          </a:ln>
        </p:spPr>
        <p:txBody>
          <a:bodyPr/>
          <a:lstStyle/>
          <a:p>
            <a:endParaRPr lang="en-US"/>
          </a:p>
        </p:txBody>
      </p:sp>
      <p:sp>
        <p:nvSpPr>
          <p:cNvPr id="19" name="Text 17"/>
          <p:cNvSpPr/>
          <p:nvPr/>
        </p:nvSpPr>
        <p:spPr>
          <a:xfrm>
            <a:off x="4594250" y="2587752"/>
            <a:ext cx="3003194" cy="2286000"/>
          </a:xfrm>
          <a:prstGeom prst="rect">
            <a:avLst/>
          </a:prstGeom>
          <a:noFill/>
          <a:ln/>
        </p:spPr>
        <p:txBody>
          <a:bodyPr wrap="square" lIns="0" tIns="0" rIns="0" bIns="0" rtlCol="0" anchor="t"/>
          <a:lstStyle/>
          <a:p>
            <a:pPr marL="0" indent="0" algn="l">
              <a:lnSpc>
                <a:spcPct val="113000"/>
              </a:lnSpc>
              <a:buNone/>
            </a:pPr>
            <a:r>
              <a:rPr lang="en-US" sz="1200" dirty="0">
                <a:solidFill>
                  <a:srgbClr val="C7D3DE"/>
                </a:solidFill>
                <a:latin typeface="Calibri" pitchFamily="34" charset="0"/>
                <a:ea typeface="Calibri" pitchFamily="34" charset="-122"/>
                <a:cs typeface="Calibri" pitchFamily="34" charset="-120"/>
              </a:rPr>
              <a:t>PHI sent to an LLM requires BAAs, de-identification, and audit logging. FDA 2025 draft guidance and the CMS prior-auth rule (Jan 2026) are shifting requirements in real time.</a:t>
            </a:r>
            <a:endParaRPr lang="en-US" sz="1200" dirty="0"/>
          </a:p>
        </p:txBody>
      </p:sp>
      <p:sp>
        <p:nvSpPr>
          <p:cNvPr id="20" name="Text 18"/>
          <p:cNvSpPr/>
          <p:nvPr/>
        </p:nvSpPr>
        <p:spPr>
          <a:xfrm>
            <a:off x="4594250" y="4892040"/>
            <a:ext cx="3003194" cy="685800"/>
          </a:xfrm>
          <a:prstGeom prst="rect">
            <a:avLst/>
          </a:prstGeom>
          <a:noFill/>
          <a:ln/>
        </p:spPr>
        <p:txBody>
          <a:bodyPr wrap="square" lIns="0" tIns="0" rIns="0" bIns="0" rtlCol="0" anchor="t"/>
          <a:lstStyle/>
          <a:p>
            <a:pPr marL="0" indent="0" algn="l">
              <a:lnSpc>
                <a:spcPct val="108000"/>
              </a:lnSpc>
              <a:buNone/>
            </a:pPr>
            <a:r>
              <a:rPr lang="en-US" sz="1100" b="1" i="1" dirty="0">
                <a:solidFill>
                  <a:srgbClr val="00B4D8"/>
                </a:solidFill>
                <a:latin typeface="Calibri" pitchFamily="34" charset="0"/>
                <a:ea typeface="Calibri" pitchFamily="34" charset="-122"/>
                <a:cs typeface="Calibri" pitchFamily="34" charset="-120"/>
              </a:rPr>
              <a:t>Mitigation: compliant infrastructure from day one.</a:t>
            </a:r>
            <a:endParaRPr lang="en-US" sz="1100" dirty="0"/>
          </a:p>
        </p:txBody>
      </p:sp>
      <p:sp>
        <p:nvSpPr>
          <p:cNvPr id="21" name="Shape 19"/>
          <p:cNvSpPr/>
          <p:nvPr/>
        </p:nvSpPr>
        <p:spPr>
          <a:xfrm>
            <a:off x="8173517" y="1417320"/>
            <a:ext cx="3515258" cy="4343400"/>
          </a:xfrm>
          <a:prstGeom prst="roundRect">
            <a:avLst>
              <a:gd name="adj" fmla="val 1561"/>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22" name="Text 20"/>
          <p:cNvSpPr/>
          <p:nvPr/>
        </p:nvSpPr>
        <p:spPr>
          <a:xfrm>
            <a:off x="8429549" y="1691640"/>
            <a:ext cx="1960778" cy="6400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Model Bias</a:t>
            </a:r>
            <a:endParaRPr lang="en-US" sz="1600" dirty="0"/>
          </a:p>
        </p:txBody>
      </p:sp>
      <p:sp>
        <p:nvSpPr>
          <p:cNvPr id="23" name="Shape 21"/>
          <p:cNvSpPr/>
          <p:nvPr/>
        </p:nvSpPr>
        <p:spPr>
          <a:xfrm>
            <a:off x="10591495" y="1728216"/>
            <a:ext cx="841248" cy="365760"/>
          </a:xfrm>
          <a:prstGeom prst="roundRect">
            <a:avLst>
              <a:gd name="adj" fmla="val 50000"/>
            </a:avLst>
          </a:prstGeom>
          <a:solidFill>
            <a:srgbClr val="EF5350"/>
          </a:solidFill>
          <a:ln/>
        </p:spPr>
        <p:txBody>
          <a:bodyPr/>
          <a:lstStyle/>
          <a:p>
            <a:endParaRPr lang="en-US"/>
          </a:p>
        </p:txBody>
      </p:sp>
      <p:sp>
        <p:nvSpPr>
          <p:cNvPr id="24" name="Text 22"/>
          <p:cNvSpPr/>
          <p:nvPr/>
        </p:nvSpPr>
        <p:spPr>
          <a:xfrm>
            <a:off x="10591495" y="1728216"/>
            <a:ext cx="841248"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HIGH</a:t>
            </a:r>
            <a:endParaRPr lang="en-US" sz="1050" dirty="0"/>
          </a:p>
        </p:txBody>
      </p:sp>
      <p:sp>
        <p:nvSpPr>
          <p:cNvPr id="25" name="Shape 23"/>
          <p:cNvSpPr/>
          <p:nvPr/>
        </p:nvSpPr>
        <p:spPr>
          <a:xfrm>
            <a:off x="8429549" y="2423160"/>
            <a:ext cx="3003194" cy="0"/>
          </a:xfrm>
          <a:prstGeom prst="line">
            <a:avLst/>
          </a:prstGeom>
          <a:noFill/>
          <a:ln w="9525">
            <a:solidFill>
              <a:srgbClr val="2A4860"/>
            </a:solidFill>
            <a:prstDash val="solid"/>
          </a:ln>
        </p:spPr>
        <p:txBody>
          <a:bodyPr/>
          <a:lstStyle/>
          <a:p>
            <a:endParaRPr lang="en-US"/>
          </a:p>
        </p:txBody>
      </p:sp>
      <p:sp>
        <p:nvSpPr>
          <p:cNvPr id="26" name="Text 24"/>
          <p:cNvSpPr/>
          <p:nvPr/>
        </p:nvSpPr>
        <p:spPr>
          <a:xfrm>
            <a:off x="8429549" y="2587752"/>
            <a:ext cx="3003194" cy="2286000"/>
          </a:xfrm>
          <a:prstGeom prst="rect">
            <a:avLst/>
          </a:prstGeom>
          <a:noFill/>
          <a:ln/>
        </p:spPr>
        <p:txBody>
          <a:bodyPr wrap="square" lIns="0" tIns="0" rIns="0" bIns="0" rtlCol="0" anchor="t"/>
          <a:lstStyle/>
          <a:p>
            <a:pPr marL="0" indent="0" algn="l">
              <a:lnSpc>
                <a:spcPct val="113000"/>
              </a:lnSpc>
              <a:buNone/>
            </a:pPr>
            <a:r>
              <a:rPr lang="en-US" sz="1200" dirty="0">
                <a:solidFill>
                  <a:srgbClr val="C7D3DE"/>
                </a:solidFill>
                <a:latin typeface="Calibri" pitchFamily="34" charset="0"/>
                <a:ea typeface="Calibri" pitchFamily="34" charset="-122"/>
                <a:cs typeface="Calibri" pitchFamily="34" charset="-120"/>
              </a:rPr>
              <a:t>Obermeyer et al. (2019): correcting one biased target variable raised Black patients flagged for extra care from 17.7% to 46.5%. Skewed utilization data repeats this.</a:t>
            </a:r>
            <a:endParaRPr lang="en-US" sz="1200" dirty="0"/>
          </a:p>
        </p:txBody>
      </p:sp>
      <p:sp>
        <p:nvSpPr>
          <p:cNvPr id="27" name="Text 25"/>
          <p:cNvSpPr/>
          <p:nvPr/>
        </p:nvSpPr>
        <p:spPr>
          <a:xfrm>
            <a:off x="8429549" y="4892040"/>
            <a:ext cx="3003194" cy="685800"/>
          </a:xfrm>
          <a:prstGeom prst="rect">
            <a:avLst/>
          </a:prstGeom>
          <a:noFill/>
          <a:ln/>
        </p:spPr>
        <p:txBody>
          <a:bodyPr wrap="square" lIns="0" tIns="0" rIns="0" bIns="0" rtlCol="0" anchor="t"/>
          <a:lstStyle/>
          <a:p>
            <a:pPr marL="0" indent="0" algn="l">
              <a:lnSpc>
                <a:spcPct val="108000"/>
              </a:lnSpc>
              <a:buNone/>
            </a:pPr>
            <a:r>
              <a:rPr lang="en-US" sz="1100" b="1" i="1" dirty="0">
                <a:solidFill>
                  <a:srgbClr val="00B4D8"/>
                </a:solidFill>
                <a:latin typeface="Calibri" pitchFamily="34" charset="0"/>
                <a:ea typeface="Calibri" pitchFamily="34" charset="-122"/>
                <a:cs typeface="Calibri" pitchFamily="34" charset="-120"/>
              </a:rPr>
              <a:t>Mitigation: subgroup fairness auditing.</a:t>
            </a:r>
            <a:endParaRPr lang="en-US" sz="1100" dirty="0"/>
          </a:p>
        </p:txBody>
      </p:sp>
      <p:sp>
        <p:nvSpPr>
          <p:cNvPr id="28" name="Shape 26"/>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29" name="Text 27"/>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These are design constraints, not blockers — each one has a known engineering mitigation.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07</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POC Architecture: How the Agent Works</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1691640"/>
            <a:ext cx="2453564" cy="2468880"/>
          </a:xfrm>
          <a:prstGeom prst="roundRect">
            <a:avLst>
              <a:gd name="adj" fmla="val 2236"/>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8" name="Shape 6"/>
          <p:cNvSpPr/>
          <p:nvPr/>
        </p:nvSpPr>
        <p:spPr>
          <a:xfrm>
            <a:off x="1491958" y="1947672"/>
            <a:ext cx="475488" cy="475488"/>
          </a:xfrm>
          <a:prstGeom prst="ellipse">
            <a:avLst/>
          </a:prstGeom>
          <a:solidFill>
            <a:srgbClr val="0D1B2A"/>
          </a:solidFill>
          <a:ln w="19050">
            <a:solidFill>
              <a:srgbClr val="00B4D8"/>
            </a:solidFill>
            <a:prstDash val="solid"/>
          </a:ln>
        </p:spPr>
        <p:txBody>
          <a:bodyPr/>
          <a:lstStyle/>
          <a:p>
            <a:endParaRPr lang="en-US"/>
          </a:p>
        </p:txBody>
      </p:sp>
      <p:sp>
        <p:nvSpPr>
          <p:cNvPr id="9" name="Text 7"/>
          <p:cNvSpPr/>
          <p:nvPr/>
        </p:nvSpPr>
        <p:spPr>
          <a:xfrm>
            <a:off x="1491958" y="1947672"/>
            <a:ext cx="475488" cy="475488"/>
          </a:xfrm>
          <a:prstGeom prst="rect">
            <a:avLst/>
          </a:prstGeom>
          <a:noFill/>
          <a:ln/>
        </p:spPr>
        <p:txBody>
          <a:bodyPr wrap="square" lIns="0" tIns="0" rIns="0" bIns="0"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667512" y="2560320"/>
            <a:ext cx="2124380" cy="685800"/>
          </a:xfrm>
          <a:prstGeom prst="rect">
            <a:avLst/>
          </a:prstGeom>
          <a:noFill/>
          <a:ln/>
        </p:spPr>
        <p:txBody>
          <a:bodyPr wrap="square" lIns="0" tIns="0" rIns="0" bIns="0" rtlCol="0" anchor="ctr"/>
          <a:lstStyle/>
          <a:p>
            <a:pPr marL="0" indent="0" algn="ctr">
              <a:lnSpc>
                <a:spcPct val="100000"/>
              </a:lnSpc>
              <a:buNone/>
            </a:pPr>
            <a:r>
              <a:rPr lang="en-US" sz="1350" b="1" dirty="0">
                <a:solidFill>
                  <a:srgbClr val="FFFFFF"/>
                </a:solidFill>
                <a:latin typeface="Calibri" pitchFamily="34" charset="0"/>
                <a:ea typeface="Calibri" pitchFamily="34" charset="-122"/>
                <a:cs typeface="Calibri" pitchFamily="34" charset="-120"/>
              </a:rPr>
              <a:t>Patient Case Input</a:t>
            </a:r>
            <a:endParaRPr lang="en-US" sz="1350" dirty="0"/>
          </a:p>
        </p:txBody>
      </p:sp>
      <p:sp>
        <p:nvSpPr>
          <p:cNvPr id="11" name="Text 9"/>
          <p:cNvSpPr/>
          <p:nvPr/>
        </p:nvSpPr>
        <p:spPr>
          <a:xfrm>
            <a:off x="685800" y="3172968"/>
            <a:ext cx="2087804" cy="868680"/>
          </a:xfrm>
          <a:prstGeom prst="rect">
            <a:avLst/>
          </a:prstGeom>
          <a:noFill/>
          <a:ln/>
        </p:spPr>
        <p:txBody>
          <a:bodyPr wrap="square" lIns="0" tIns="0" rIns="0" bIns="0" rtlCol="0" anchor="t"/>
          <a:lstStyle/>
          <a:p>
            <a:pPr marL="0" indent="0" algn="ctr">
              <a:lnSpc>
                <a:spcPct val="110000"/>
              </a:lnSpc>
              <a:buNone/>
            </a:pPr>
            <a:r>
              <a:rPr lang="en-US" sz="1050" dirty="0">
                <a:solidFill>
                  <a:srgbClr val="C7D3DE"/>
                </a:solidFill>
                <a:latin typeface="Calibri" pitchFamily="34" charset="0"/>
                <a:ea typeface="Calibri" pitchFamily="34" charset="-122"/>
                <a:cs typeface="Calibri" pitchFamily="34" charset="-120"/>
              </a:rPr>
              <a:t>Age, symptoms, vitals, and history, passed in as JSON.</a:t>
            </a:r>
            <a:endParaRPr lang="en-US" sz="1050" dirty="0"/>
          </a:p>
        </p:txBody>
      </p:sp>
      <p:sp>
        <p:nvSpPr>
          <p:cNvPr id="12" name="Text 10"/>
          <p:cNvSpPr/>
          <p:nvPr/>
        </p:nvSpPr>
        <p:spPr>
          <a:xfrm>
            <a:off x="2974772" y="1691640"/>
            <a:ext cx="420624" cy="2468880"/>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3413684" y="1691640"/>
            <a:ext cx="2453564" cy="2468880"/>
          </a:xfrm>
          <a:prstGeom prst="roundRect">
            <a:avLst>
              <a:gd name="adj" fmla="val 2236"/>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4" name="Shape 12"/>
          <p:cNvSpPr/>
          <p:nvPr/>
        </p:nvSpPr>
        <p:spPr>
          <a:xfrm>
            <a:off x="4402722" y="1947672"/>
            <a:ext cx="475488" cy="475488"/>
          </a:xfrm>
          <a:prstGeom prst="ellipse">
            <a:avLst/>
          </a:prstGeom>
          <a:solidFill>
            <a:srgbClr val="0D1B2A"/>
          </a:solidFill>
          <a:ln w="19050">
            <a:solidFill>
              <a:srgbClr val="00B4D8"/>
            </a:solidFill>
            <a:prstDash val="solid"/>
          </a:ln>
        </p:spPr>
        <p:txBody>
          <a:bodyPr/>
          <a:lstStyle/>
          <a:p>
            <a:endParaRPr lang="en-US"/>
          </a:p>
        </p:txBody>
      </p:sp>
      <p:sp>
        <p:nvSpPr>
          <p:cNvPr id="15" name="Text 13"/>
          <p:cNvSpPr/>
          <p:nvPr/>
        </p:nvSpPr>
        <p:spPr>
          <a:xfrm>
            <a:off x="4402722" y="1947672"/>
            <a:ext cx="475488" cy="475488"/>
          </a:xfrm>
          <a:prstGeom prst="rect">
            <a:avLst/>
          </a:prstGeom>
          <a:noFill/>
          <a:ln/>
        </p:spPr>
        <p:txBody>
          <a:bodyPr wrap="square" lIns="0" tIns="0" rIns="0" bIns="0"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3578276" y="2560320"/>
            <a:ext cx="2124380" cy="685800"/>
          </a:xfrm>
          <a:prstGeom prst="rect">
            <a:avLst/>
          </a:prstGeom>
          <a:noFill/>
          <a:ln/>
        </p:spPr>
        <p:txBody>
          <a:bodyPr wrap="square" lIns="0" tIns="0" rIns="0" bIns="0" rtlCol="0" anchor="ctr"/>
          <a:lstStyle/>
          <a:p>
            <a:pPr marL="0" indent="0" algn="ctr">
              <a:lnSpc>
                <a:spcPct val="100000"/>
              </a:lnSpc>
              <a:buNone/>
            </a:pPr>
            <a:r>
              <a:rPr lang="en-US" sz="1350" b="1" dirty="0">
                <a:solidFill>
                  <a:srgbClr val="FFFFFF"/>
                </a:solidFill>
                <a:latin typeface="Calibri" pitchFamily="34" charset="0"/>
                <a:ea typeface="Calibri" pitchFamily="34" charset="-122"/>
                <a:cs typeface="Calibri" pitchFamily="34" charset="-120"/>
              </a:rPr>
              <a:t>Rule-Based Vitals Check</a:t>
            </a:r>
            <a:endParaRPr lang="en-US" sz="1350" dirty="0"/>
          </a:p>
        </p:txBody>
      </p:sp>
      <p:sp>
        <p:nvSpPr>
          <p:cNvPr id="17" name="Text 15"/>
          <p:cNvSpPr/>
          <p:nvPr/>
        </p:nvSpPr>
        <p:spPr>
          <a:xfrm>
            <a:off x="3596564" y="3172968"/>
            <a:ext cx="2087804" cy="868680"/>
          </a:xfrm>
          <a:prstGeom prst="rect">
            <a:avLst/>
          </a:prstGeom>
          <a:noFill/>
          <a:ln/>
        </p:spPr>
        <p:txBody>
          <a:bodyPr wrap="square" lIns="0" tIns="0" rIns="0" bIns="0" rtlCol="0" anchor="t"/>
          <a:lstStyle/>
          <a:p>
            <a:pPr marL="0" indent="0" algn="ctr">
              <a:lnSpc>
                <a:spcPct val="110000"/>
              </a:lnSpc>
              <a:buNone/>
            </a:pPr>
            <a:r>
              <a:rPr lang="en-US" sz="1050" dirty="0">
                <a:solidFill>
                  <a:srgbClr val="C7D3DE"/>
                </a:solidFill>
                <a:latin typeface="Calibri" pitchFamily="34" charset="0"/>
                <a:ea typeface="Calibri" pitchFamily="34" charset="-122"/>
                <a:cs typeface="Calibri" pitchFamily="34" charset="-120"/>
              </a:rPr>
              <a:t>Deterministic, age-banded Python layer. Fully auditable.</a:t>
            </a:r>
            <a:endParaRPr lang="en-US" sz="1050" dirty="0"/>
          </a:p>
        </p:txBody>
      </p:sp>
      <p:sp>
        <p:nvSpPr>
          <p:cNvPr id="18" name="Text 16"/>
          <p:cNvSpPr/>
          <p:nvPr/>
        </p:nvSpPr>
        <p:spPr>
          <a:xfrm>
            <a:off x="5885536" y="1691640"/>
            <a:ext cx="420624" cy="2468880"/>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324448" y="1691640"/>
            <a:ext cx="2453564" cy="2468880"/>
          </a:xfrm>
          <a:prstGeom prst="roundRect">
            <a:avLst>
              <a:gd name="adj" fmla="val 2236"/>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20" name="Shape 18"/>
          <p:cNvSpPr/>
          <p:nvPr/>
        </p:nvSpPr>
        <p:spPr>
          <a:xfrm>
            <a:off x="7313486" y="1947672"/>
            <a:ext cx="475488" cy="475488"/>
          </a:xfrm>
          <a:prstGeom prst="ellipse">
            <a:avLst/>
          </a:prstGeom>
          <a:solidFill>
            <a:srgbClr val="0D1B2A"/>
          </a:solidFill>
          <a:ln w="19050">
            <a:solidFill>
              <a:srgbClr val="00B4D8"/>
            </a:solidFill>
            <a:prstDash val="solid"/>
          </a:ln>
        </p:spPr>
        <p:txBody>
          <a:bodyPr/>
          <a:lstStyle/>
          <a:p>
            <a:endParaRPr lang="en-US"/>
          </a:p>
        </p:txBody>
      </p:sp>
      <p:sp>
        <p:nvSpPr>
          <p:cNvPr id="21" name="Text 19"/>
          <p:cNvSpPr/>
          <p:nvPr/>
        </p:nvSpPr>
        <p:spPr>
          <a:xfrm>
            <a:off x="7313486" y="1947672"/>
            <a:ext cx="475488" cy="475488"/>
          </a:xfrm>
          <a:prstGeom prst="rect">
            <a:avLst/>
          </a:prstGeom>
          <a:noFill/>
          <a:ln/>
        </p:spPr>
        <p:txBody>
          <a:bodyPr wrap="square" lIns="0" tIns="0" rIns="0" bIns="0"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6489040" y="2560320"/>
            <a:ext cx="2124380" cy="685800"/>
          </a:xfrm>
          <a:prstGeom prst="rect">
            <a:avLst/>
          </a:prstGeom>
          <a:noFill/>
          <a:ln/>
        </p:spPr>
        <p:txBody>
          <a:bodyPr wrap="square" lIns="0" tIns="0" rIns="0" bIns="0" rtlCol="0" anchor="ctr"/>
          <a:lstStyle/>
          <a:p>
            <a:pPr marL="0" indent="0" algn="ctr">
              <a:lnSpc>
                <a:spcPct val="100000"/>
              </a:lnSpc>
              <a:buNone/>
            </a:pPr>
            <a:r>
              <a:rPr lang="en-US" sz="1350" b="1" dirty="0">
                <a:solidFill>
                  <a:srgbClr val="FFFFFF"/>
                </a:solidFill>
                <a:latin typeface="Calibri" pitchFamily="34" charset="0"/>
                <a:ea typeface="Calibri" pitchFamily="34" charset="-122"/>
                <a:cs typeface="Calibri" pitchFamily="34" charset="-120"/>
              </a:rPr>
              <a:t>LLM Chain-of-Thought</a:t>
            </a:r>
            <a:endParaRPr lang="en-US" sz="1350" dirty="0"/>
          </a:p>
        </p:txBody>
      </p:sp>
      <p:sp>
        <p:nvSpPr>
          <p:cNvPr id="23" name="Text 21"/>
          <p:cNvSpPr/>
          <p:nvPr/>
        </p:nvSpPr>
        <p:spPr>
          <a:xfrm>
            <a:off x="6507328" y="3172968"/>
            <a:ext cx="2087804" cy="868680"/>
          </a:xfrm>
          <a:prstGeom prst="rect">
            <a:avLst/>
          </a:prstGeom>
          <a:noFill/>
          <a:ln/>
        </p:spPr>
        <p:txBody>
          <a:bodyPr wrap="square" lIns="0" tIns="0" rIns="0" bIns="0" rtlCol="0" anchor="t"/>
          <a:lstStyle/>
          <a:p>
            <a:pPr marL="0" indent="0" algn="ctr">
              <a:lnSpc>
                <a:spcPct val="110000"/>
              </a:lnSpc>
              <a:buNone/>
            </a:pPr>
            <a:r>
              <a:rPr lang="en-US" sz="1050" dirty="0">
                <a:solidFill>
                  <a:srgbClr val="C7D3DE"/>
                </a:solidFill>
                <a:latin typeface="Calibri" pitchFamily="34" charset="0"/>
                <a:ea typeface="Calibri" pitchFamily="34" charset="-122"/>
                <a:cs typeface="Calibri" pitchFamily="34" charset="-120"/>
              </a:rPr>
              <a:t>Claude Haiku via Anthropic API: differential, ICD-10, risk narrative.</a:t>
            </a:r>
            <a:endParaRPr lang="en-US" sz="1050" dirty="0"/>
          </a:p>
        </p:txBody>
      </p:sp>
      <p:sp>
        <p:nvSpPr>
          <p:cNvPr id="24" name="Text 22"/>
          <p:cNvSpPr/>
          <p:nvPr/>
        </p:nvSpPr>
        <p:spPr>
          <a:xfrm>
            <a:off x="8796299" y="1691640"/>
            <a:ext cx="420624" cy="2468880"/>
          </a:xfrm>
          <a:prstGeom prst="rect">
            <a:avLst/>
          </a:prstGeom>
          <a:noFill/>
          <a:ln/>
        </p:spPr>
        <p:txBody>
          <a:bodyPr wrap="square" lIns="0" tIns="0" rIns="0" bIns="0" rtlCol="0" anchor="ctr"/>
          <a:lstStyle/>
          <a:p>
            <a:pPr marL="0" indent="0" algn="ctr">
              <a:buNone/>
            </a:pPr>
            <a:r>
              <a:rPr lang="en-US" sz="2200" b="1" dirty="0">
                <a:solidFill>
                  <a:srgbClr val="00B4D8"/>
                </a:solidFill>
                <a:latin typeface="Calibri" pitchFamily="34" charset="0"/>
                <a:ea typeface="Calibri" pitchFamily="34" charset="-122"/>
                <a:cs typeface="Calibri" pitchFamily="34" charset="-120"/>
              </a:rPr>
              <a:t>→</a:t>
            </a:r>
            <a:endParaRPr lang="en-US" sz="2200" dirty="0"/>
          </a:p>
        </p:txBody>
      </p:sp>
      <p:sp>
        <p:nvSpPr>
          <p:cNvPr id="25" name="Shape 23"/>
          <p:cNvSpPr/>
          <p:nvPr/>
        </p:nvSpPr>
        <p:spPr>
          <a:xfrm>
            <a:off x="9235211" y="1691640"/>
            <a:ext cx="2453564" cy="2468880"/>
          </a:xfrm>
          <a:prstGeom prst="roundRect">
            <a:avLst>
              <a:gd name="adj" fmla="val 2236"/>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26" name="Shape 24"/>
          <p:cNvSpPr/>
          <p:nvPr/>
        </p:nvSpPr>
        <p:spPr>
          <a:xfrm>
            <a:off x="10224249" y="1947672"/>
            <a:ext cx="475488" cy="475488"/>
          </a:xfrm>
          <a:prstGeom prst="ellipse">
            <a:avLst/>
          </a:prstGeom>
          <a:solidFill>
            <a:srgbClr val="0D1B2A"/>
          </a:solidFill>
          <a:ln w="19050">
            <a:solidFill>
              <a:srgbClr val="00B4D8"/>
            </a:solidFill>
            <a:prstDash val="solid"/>
          </a:ln>
        </p:spPr>
        <p:txBody>
          <a:bodyPr/>
          <a:lstStyle/>
          <a:p>
            <a:endParaRPr lang="en-US"/>
          </a:p>
        </p:txBody>
      </p:sp>
      <p:sp>
        <p:nvSpPr>
          <p:cNvPr id="27" name="Text 25"/>
          <p:cNvSpPr/>
          <p:nvPr/>
        </p:nvSpPr>
        <p:spPr>
          <a:xfrm>
            <a:off x="10224249" y="1947672"/>
            <a:ext cx="475488" cy="475488"/>
          </a:xfrm>
          <a:prstGeom prst="rect">
            <a:avLst/>
          </a:prstGeom>
          <a:noFill/>
          <a:ln/>
        </p:spPr>
        <p:txBody>
          <a:bodyPr wrap="square" lIns="0" tIns="0" rIns="0" bIns="0" rtlCol="0" anchor="ctr"/>
          <a:lstStyle/>
          <a:p>
            <a:pPr marL="0" indent="0" algn="ctr">
              <a:buNone/>
            </a:pPr>
            <a:r>
              <a:rPr lang="en-US" sz="1800" b="1" dirty="0">
                <a:solidFill>
                  <a:srgbClr val="00B4D8"/>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9399803" y="2560320"/>
            <a:ext cx="2124380" cy="685800"/>
          </a:xfrm>
          <a:prstGeom prst="rect">
            <a:avLst/>
          </a:prstGeom>
          <a:noFill/>
          <a:ln/>
        </p:spPr>
        <p:txBody>
          <a:bodyPr wrap="square" lIns="0" tIns="0" rIns="0" bIns="0" rtlCol="0" anchor="ctr"/>
          <a:lstStyle/>
          <a:p>
            <a:pPr marL="0" indent="0" algn="ctr">
              <a:lnSpc>
                <a:spcPct val="100000"/>
              </a:lnSpc>
              <a:buNone/>
            </a:pPr>
            <a:r>
              <a:rPr lang="en-US" sz="1350" b="1" dirty="0">
                <a:solidFill>
                  <a:srgbClr val="FFFFFF"/>
                </a:solidFill>
                <a:latin typeface="Calibri" pitchFamily="34" charset="0"/>
                <a:ea typeface="Calibri" pitchFamily="34" charset="-122"/>
                <a:cs typeface="Calibri" pitchFamily="34" charset="-120"/>
              </a:rPr>
              <a:t>Structured Output</a:t>
            </a:r>
            <a:endParaRPr lang="en-US" sz="1350" dirty="0"/>
          </a:p>
        </p:txBody>
      </p:sp>
      <p:sp>
        <p:nvSpPr>
          <p:cNvPr id="29" name="Text 27"/>
          <p:cNvSpPr/>
          <p:nvPr/>
        </p:nvSpPr>
        <p:spPr>
          <a:xfrm>
            <a:off x="9418091" y="3172968"/>
            <a:ext cx="2087804" cy="868680"/>
          </a:xfrm>
          <a:prstGeom prst="rect">
            <a:avLst/>
          </a:prstGeom>
          <a:noFill/>
          <a:ln/>
        </p:spPr>
        <p:txBody>
          <a:bodyPr wrap="square" lIns="0" tIns="0" rIns="0" bIns="0" rtlCol="0" anchor="t"/>
          <a:lstStyle/>
          <a:p>
            <a:pPr marL="0" indent="0" algn="ctr">
              <a:lnSpc>
                <a:spcPct val="110000"/>
              </a:lnSpc>
              <a:buNone/>
            </a:pPr>
            <a:r>
              <a:rPr lang="en-US" sz="1050" dirty="0">
                <a:solidFill>
                  <a:srgbClr val="C7D3DE"/>
                </a:solidFill>
                <a:latin typeface="Calibri" pitchFamily="34" charset="0"/>
                <a:ea typeface="Calibri" pitchFamily="34" charset="-122"/>
                <a:cs typeface="Calibri" pitchFamily="34" charset="-120"/>
              </a:rPr>
              <a:t>Pydantic schema enforced with instructor. JSON, never a raw string.</a:t>
            </a:r>
            <a:endParaRPr lang="en-US" sz="1050" dirty="0"/>
          </a:p>
        </p:txBody>
      </p:sp>
      <p:sp>
        <p:nvSpPr>
          <p:cNvPr id="30" name="Text 28"/>
          <p:cNvSpPr/>
          <p:nvPr/>
        </p:nvSpPr>
        <p:spPr>
          <a:xfrm>
            <a:off x="502920" y="4526280"/>
            <a:ext cx="11185855" cy="914400"/>
          </a:xfrm>
          <a:prstGeom prst="rect">
            <a:avLst/>
          </a:prstGeom>
          <a:noFill/>
          <a:ln/>
        </p:spPr>
        <p:txBody>
          <a:bodyPr wrap="square" lIns="0" tIns="0" rIns="0" bIns="0" rtlCol="0" anchor="ctr"/>
          <a:lstStyle/>
          <a:p>
            <a:pPr marL="0" indent="0" algn="ctr">
              <a:buNone/>
            </a:pPr>
            <a:r>
              <a:rPr lang="en-US" sz="1500" b="1" dirty="0">
                <a:solidFill>
                  <a:srgbClr val="00B4D8"/>
                </a:solidFill>
                <a:latin typeface="Calibri" pitchFamily="34" charset="0"/>
                <a:ea typeface="Calibri" pitchFamily="34" charset="-122"/>
                <a:cs typeface="Calibri" pitchFamily="34" charset="-120"/>
              </a:rPr>
              <a:t>Hybrid architecture.  </a:t>
            </a:r>
            <a:r>
              <a:rPr lang="en-US" sz="1500" dirty="0">
                <a:solidFill>
                  <a:srgbClr val="C7D3DE"/>
                </a:solidFill>
                <a:latin typeface="Calibri" pitchFamily="34" charset="0"/>
                <a:ea typeface="Calibri" pitchFamily="34" charset="-122"/>
                <a:cs typeface="Calibri" pitchFamily="34" charset="-120"/>
              </a:rPr>
              <a:t>The rule layer runs first and feeds verified facts to the model. The model never silently overrides an objective vitals check.</a:t>
            </a:r>
            <a:endParaRPr lang="en-US" sz="1500" dirty="0"/>
          </a:p>
        </p:txBody>
      </p:sp>
      <p:sp>
        <p:nvSpPr>
          <p:cNvPr id="31" name="Shape 29"/>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32" name="Text 30"/>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An AI-governance pattern — transparent, auditable, and production-ready in design.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08</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POC Live Output — Case 001</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1371600"/>
            <a:ext cx="11185855" cy="4389120"/>
          </a:xfrm>
          <a:prstGeom prst="roundRect">
            <a:avLst>
              <a:gd name="adj" fmla="val 1042"/>
            </a:avLst>
          </a:prstGeom>
          <a:solidFill>
            <a:srgbClr val="0A131F"/>
          </a:solidFill>
          <a:ln w="12700">
            <a:solidFill>
              <a:srgbClr val="203A52"/>
            </a:solidFill>
            <a:prstDash val="solid"/>
          </a:ln>
        </p:spPr>
        <p:txBody>
          <a:bodyPr/>
          <a:lstStyle/>
          <a:p>
            <a:endParaRPr lang="en-US"/>
          </a:p>
        </p:txBody>
      </p:sp>
      <p:sp>
        <p:nvSpPr>
          <p:cNvPr id="8" name="Text 6"/>
          <p:cNvSpPr/>
          <p:nvPr/>
        </p:nvSpPr>
        <p:spPr>
          <a:xfrm>
            <a:off x="868680" y="1627632"/>
            <a:ext cx="10454335" cy="3931920"/>
          </a:xfrm>
          <a:prstGeom prst="rect">
            <a:avLst/>
          </a:prstGeom>
          <a:noFill/>
          <a:ln/>
        </p:spPr>
        <p:txBody>
          <a:bodyPr wrap="square" lIns="0" tIns="0" rIns="0" bIns="0" rtlCol="0" anchor="t"/>
          <a:lstStyle/>
          <a:p>
            <a:pPr marL="0" indent="0" algn="l">
              <a:lnSpc>
                <a:spcPct val="108000"/>
              </a:lnSpc>
              <a:buNone/>
            </a:pPr>
            <a:r>
              <a:rPr lang="en-US" sz="1300" dirty="0">
                <a:solidFill>
                  <a:srgbClr val="00B4D8"/>
                </a:solidFill>
                <a:latin typeface="Courier New" pitchFamily="34" charset="0"/>
                <a:ea typeface="Courier New" pitchFamily="34" charset="-122"/>
                <a:cs typeface="Courier New" pitchFamily="34" charset="-120"/>
              </a:rPr>
              <a:t>PATIENT   </a:t>
            </a:r>
            <a:r>
              <a:rPr lang="en-US" sz="1300" dirty="0">
                <a:solidFill>
                  <a:srgbClr val="FFFFFF"/>
                </a:solidFill>
                <a:latin typeface="Courier New" pitchFamily="34" charset="0"/>
                <a:ea typeface="Courier New" pitchFamily="34" charset="-122"/>
                <a:cs typeface="Courier New" pitchFamily="34" charset="-120"/>
              </a:rPr>
              <a:t>58M  |  Crushing chest pain, 40 min</a:t>
            </a:r>
            <a:endParaRPr lang="en-US" sz="1300" dirty="0"/>
          </a:p>
          <a:p>
            <a:pPr marL="0" indent="0" algn="l">
              <a:lnSpc>
                <a:spcPct val="108000"/>
              </a:lnSpc>
              <a:buNone/>
            </a:pPr>
            <a:r>
              <a:rPr lang="en-US" sz="1300" dirty="0">
                <a:solidFill>
                  <a:srgbClr val="00B4D8"/>
                </a:solidFill>
                <a:latin typeface="Courier New" pitchFamily="34" charset="0"/>
                <a:ea typeface="Courier New" pitchFamily="34" charset="-122"/>
                <a:cs typeface="Courier New" pitchFamily="34" charset="-120"/>
              </a:rPr>
              <a:t>VITALS    </a:t>
            </a:r>
            <a:r>
              <a:rPr lang="en-US" sz="1300" dirty="0">
                <a:solidFill>
                  <a:srgbClr val="FFFFFF"/>
                </a:solidFill>
                <a:latin typeface="Courier New" pitchFamily="34" charset="0"/>
                <a:ea typeface="Courier New" pitchFamily="34" charset="-122"/>
                <a:cs typeface="Courier New" pitchFamily="34" charset="-120"/>
              </a:rPr>
              <a:t>HR 112  |  BP 158/96  |  SpO2 94%</a:t>
            </a:r>
            <a:endParaRPr lang="en-US" sz="1300" dirty="0"/>
          </a:p>
          <a:p>
            <a:pPr marL="0" indent="0" algn="l">
              <a:lnSpc>
                <a:spcPct val="108000"/>
              </a:lnSpc>
              <a:buNone/>
            </a:pPr>
            <a:endParaRPr lang="en-US" sz="1300" dirty="0"/>
          </a:p>
          <a:p>
            <a:pPr marL="0" indent="0" algn="l">
              <a:lnSpc>
                <a:spcPct val="108000"/>
              </a:lnSpc>
              <a:buNone/>
            </a:pPr>
            <a:r>
              <a:rPr lang="en-US" sz="1300" b="1" dirty="0">
                <a:solidFill>
                  <a:srgbClr val="00B4D8"/>
                </a:solidFill>
                <a:latin typeface="Courier New" pitchFamily="34" charset="0"/>
                <a:ea typeface="Courier New" pitchFamily="34" charset="-122"/>
                <a:cs typeface="Courier New" pitchFamily="34" charset="-120"/>
              </a:rPr>
              <a:t>TOP DIAGNOSIS</a:t>
            </a:r>
            <a:endParaRPr lang="en-US" sz="1300" dirty="0"/>
          </a:p>
          <a:p>
            <a:pPr marL="0" indent="0" algn="l">
              <a:lnSpc>
                <a:spcPct val="108000"/>
              </a:lnSpc>
              <a:buNone/>
            </a:pPr>
            <a:r>
              <a:rPr lang="en-US" sz="1300" dirty="0">
                <a:solidFill>
                  <a:srgbClr val="FFFFFF"/>
                </a:solidFill>
                <a:latin typeface="Courier New" pitchFamily="34" charset="0"/>
                <a:ea typeface="Courier New" pitchFamily="34" charset="-122"/>
                <a:cs typeface="Courier New" pitchFamily="34" charset="-120"/>
              </a:rPr>
              <a:t>  Acute Coronary Syndrome</a:t>
            </a:r>
            <a:r>
              <a:rPr lang="en-US" sz="1300" dirty="0">
                <a:solidFill>
                  <a:srgbClr val="9FB3C8"/>
                </a:solidFill>
                <a:latin typeface="Courier New" pitchFamily="34" charset="0"/>
                <a:ea typeface="Courier New" pitchFamily="34" charset="-122"/>
                <a:cs typeface="Courier New" pitchFamily="34" charset="-120"/>
              </a:rPr>
              <a:t>          confidence: </a:t>
            </a:r>
            <a:r>
              <a:rPr lang="en-US" sz="1300" b="1" dirty="0">
                <a:solidFill>
                  <a:srgbClr val="5BE0A0"/>
                </a:solidFill>
                <a:latin typeface="Courier New" pitchFamily="34" charset="0"/>
                <a:ea typeface="Courier New" pitchFamily="34" charset="-122"/>
                <a:cs typeface="Courier New" pitchFamily="34" charset="-120"/>
              </a:rPr>
              <a:t>HIGH</a:t>
            </a:r>
            <a:endParaRPr lang="en-US" sz="1300" dirty="0"/>
          </a:p>
          <a:p>
            <a:pPr marL="0" indent="0" algn="l">
              <a:lnSpc>
                <a:spcPct val="108000"/>
              </a:lnSpc>
              <a:buNone/>
            </a:pPr>
            <a:endParaRPr lang="en-US" sz="1300" dirty="0"/>
          </a:p>
          <a:p>
            <a:pPr marL="0" indent="0" algn="l">
              <a:lnSpc>
                <a:spcPct val="108000"/>
              </a:lnSpc>
              <a:buNone/>
            </a:pPr>
            <a:r>
              <a:rPr lang="en-US" sz="1300" b="1" dirty="0">
                <a:solidFill>
                  <a:srgbClr val="00B4D8"/>
                </a:solidFill>
                <a:latin typeface="Courier New" pitchFamily="34" charset="0"/>
                <a:ea typeface="Courier New" pitchFamily="34" charset="-122"/>
                <a:cs typeface="Courier New" pitchFamily="34" charset="-120"/>
              </a:rPr>
              <a:t>ICD-10 CODES</a:t>
            </a:r>
            <a:endParaRPr lang="en-US" sz="1300" dirty="0"/>
          </a:p>
          <a:p>
            <a:pPr marL="0" indent="0" algn="l">
              <a:lnSpc>
                <a:spcPct val="108000"/>
              </a:lnSpc>
              <a:buNone/>
            </a:pPr>
            <a:r>
              <a:rPr lang="en-US" sz="1300" dirty="0">
                <a:solidFill>
                  <a:srgbClr val="5BE0A0"/>
                </a:solidFill>
                <a:latin typeface="Courier New" pitchFamily="34" charset="0"/>
                <a:ea typeface="Courier New" pitchFamily="34" charset="-122"/>
                <a:cs typeface="Courier New" pitchFamily="34" charset="-120"/>
              </a:rPr>
              <a:t>  I20.0   </a:t>
            </a:r>
            <a:r>
              <a:rPr lang="en-US" sz="1300" dirty="0">
                <a:solidFill>
                  <a:srgbClr val="FFFFFF"/>
                </a:solidFill>
                <a:latin typeface="Courier New" pitchFamily="34" charset="0"/>
                <a:ea typeface="Courier New" pitchFamily="34" charset="-122"/>
                <a:cs typeface="Courier New" pitchFamily="34" charset="-120"/>
              </a:rPr>
              <a:t>Unstable angina</a:t>
            </a:r>
            <a:endParaRPr lang="en-US" sz="1300" dirty="0"/>
          </a:p>
          <a:p>
            <a:pPr marL="0" indent="0" algn="l">
              <a:lnSpc>
                <a:spcPct val="108000"/>
              </a:lnSpc>
              <a:buNone/>
            </a:pPr>
            <a:r>
              <a:rPr lang="en-US" sz="1300" dirty="0">
                <a:solidFill>
                  <a:srgbClr val="5BE0A0"/>
                </a:solidFill>
                <a:latin typeface="Courier New" pitchFamily="34" charset="0"/>
                <a:ea typeface="Courier New" pitchFamily="34" charset="-122"/>
                <a:cs typeface="Courier New" pitchFamily="34" charset="-120"/>
              </a:rPr>
              <a:t>  I21.9   </a:t>
            </a:r>
            <a:r>
              <a:rPr lang="en-US" sz="1300" dirty="0">
                <a:solidFill>
                  <a:srgbClr val="FFFFFF"/>
                </a:solidFill>
                <a:latin typeface="Courier New" pitchFamily="34" charset="0"/>
                <a:ea typeface="Courier New" pitchFamily="34" charset="-122"/>
                <a:cs typeface="Courier New" pitchFamily="34" charset="-120"/>
              </a:rPr>
              <a:t>Acute myocardial infarction, unspecified</a:t>
            </a:r>
            <a:endParaRPr lang="en-US" sz="1300" dirty="0"/>
          </a:p>
          <a:p>
            <a:pPr marL="0" indent="0" algn="l">
              <a:lnSpc>
                <a:spcPct val="108000"/>
              </a:lnSpc>
              <a:buNone/>
            </a:pPr>
            <a:endParaRPr lang="en-US" sz="1300" dirty="0"/>
          </a:p>
          <a:p>
            <a:pPr marL="0" indent="0" algn="l">
              <a:lnSpc>
                <a:spcPct val="108000"/>
              </a:lnSpc>
              <a:buNone/>
            </a:pPr>
            <a:r>
              <a:rPr lang="en-US" sz="1300" b="1" dirty="0">
                <a:solidFill>
                  <a:srgbClr val="00B4D8"/>
                </a:solidFill>
                <a:latin typeface="Courier New" pitchFamily="34" charset="0"/>
                <a:ea typeface="Courier New" pitchFamily="34" charset="-122"/>
                <a:cs typeface="Courier New" pitchFamily="34" charset="-120"/>
              </a:rPr>
              <a:t>RISK FLAGS</a:t>
            </a:r>
            <a:endParaRPr lang="en-US" sz="1300" dirty="0"/>
          </a:p>
          <a:p>
            <a:pPr marL="0" indent="0" algn="l">
              <a:lnSpc>
                <a:spcPct val="108000"/>
              </a:lnSpc>
              <a:buNone/>
            </a:pPr>
            <a:r>
              <a:rPr lang="en-US" sz="1300" dirty="0">
                <a:solidFill>
                  <a:srgbClr val="FFFFFF"/>
                </a:solidFill>
                <a:latin typeface="Courier New" pitchFamily="34" charset="0"/>
                <a:ea typeface="Courier New" pitchFamily="34" charset="-122"/>
                <a:cs typeface="Courier New" pitchFamily="34" charset="-120"/>
              </a:rPr>
              <a:t>  Tachycardia      HR 112 bpm        </a:t>
            </a:r>
            <a:r>
              <a:rPr lang="en-US" sz="1300" b="1" dirty="0">
                <a:solidFill>
                  <a:srgbClr val="EF5350"/>
                </a:solidFill>
                <a:latin typeface="Courier New" pitchFamily="34" charset="0"/>
                <a:ea typeface="Courier New" pitchFamily="34" charset="-122"/>
                <a:cs typeface="Courier New" pitchFamily="34" charset="-120"/>
              </a:rPr>
              <a:t>HIGH</a:t>
            </a:r>
            <a:endParaRPr lang="en-US" sz="1300" dirty="0"/>
          </a:p>
          <a:p>
            <a:pPr marL="0" indent="0" algn="l">
              <a:lnSpc>
                <a:spcPct val="108000"/>
              </a:lnSpc>
              <a:buNone/>
            </a:pPr>
            <a:r>
              <a:rPr lang="en-US" sz="1300" dirty="0">
                <a:solidFill>
                  <a:srgbClr val="FFFFFF"/>
                </a:solidFill>
                <a:latin typeface="Courier New" pitchFamily="34" charset="0"/>
                <a:ea typeface="Courier New" pitchFamily="34" charset="-122"/>
                <a:cs typeface="Courier New" pitchFamily="34" charset="-120"/>
              </a:rPr>
              <a:t>  Hypoxemia        SpO2 94%          </a:t>
            </a:r>
            <a:r>
              <a:rPr lang="en-US" sz="1300" b="1" dirty="0">
                <a:solidFill>
                  <a:srgbClr val="F4A338"/>
                </a:solidFill>
                <a:latin typeface="Courier New" pitchFamily="34" charset="0"/>
                <a:ea typeface="Courier New" pitchFamily="34" charset="-122"/>
                <a:cs typeface="Courier New" pitchFamily="34" charset="-120"/>
              </a:rPr>
              <a:t>MODERATE</a:t>
            </a:r>
            <a:endParaRPr lang="en-US" sz="1300" dirty="0"/>
          </a:p>
          <a:p>
            <a:pPr marL="0" indent="0" algn="l">
              <a:lnSpc>
                <a:spcPct val="108000"/>
              </a:lnSpc>
              <a:buNone/>
            </a:pPr>
            <a:r>
              <a:rPr lang="en-US" sz="1300" dirty="0">
                <a:solidFill>
                  <a:srgbClr val="FFFFFF"/>
                </a:solidFill>
                <a:latin typeface="Courier New" pitchFamily="34" charset="0"/>
                <a:ea typeface="Courier New" pitchFamily="34" charset="-122"/>
                <a:cs typeface="Courier New" pitchFamily="34" charset="-120"/>
              </a:rPr>
              <a:t>  Hypertension     BP 158/96 mmHg    </a:t>
            </a:r>
            <a:r>
              <a:rPr lang="en-US" sz="1300" b="1" dirty="0">
                <a:solidFill>
                  <a:srgbClr val="EF5350"/>
                </a:solidFill>
                <a:latin typeface="Courier New" pitchFamily="34" charset="0"/>
                <a:ea typeface="Courier New" pitchFamily="34" charset="-122"/>
                <a:cs typeface="Courier New" pitchFamily="34" charset="-120"/>
              </a:rPr>
              <a:t>HIGH</a:t>
            </a:r>
            <a:endParaRPr lang="en-US" sz="1300" dirty="0"/>
          </a:p>
          <a:p>
            <a:pPr marL="0" indent="0" algn="l">
              <a:lnSpc>
                <a:spcPct val="108000"/>
              </a:lnSpc>
              <a:buNone/>
            </a:pPr>
            <a:endParaRPr lang="en-US" sz="1300" dirty="0"/>
          </a:p>
          <a:p>
            <a:pPr marL="0" indent="0" algn="l">
              <a:lnSpc>
                <a:spcPct val="108000"/>
              </a:lnSpc>
              <a:buNone/>
            </a:pPr>
            <a:r>
              <a:rPr lang="en-US" sz="1300" b="1" dirty="0">
                <a:solidFill>
                  <a:srgbClr val="00B4D8"/>
                </a:solidFill>
                <a:latin typeface="Courier New" pitchFamily="34" charset="0"/>
                <a:ea typeface="Courier New" pitchFamily="34" charset="-122"/>
                <a:cs typeface="Courier New" pitchFamily="34" charset="-120"/>
              </a:rPr>
              <a:t>NEXT STEPS</a:t>
            </a:r>
            <a:endParaRPr lang="en-US" sz="1300" dirty="0"/>
          </a:p>
          <a:p>
            <a:pPr marL="0" indent="0" algn="l">
              <a:lnSpc>
                <a:spcPct val="108000"/>
              </a:lnSpc>
              <a:buNone/>
            </a:pPr>
            <a:r>
              <a:rPr lang="en-US" sz="1300" dirty="0">
                <a:solidFill>
                  <a:srgbClr val="FFFFFF"/>
                </a:solidFill>
                <a:latin typeface="Courier New" pitchFamily="34" charset="0"/>
                <a:ea typeface="Courier New" pitchFamily="34" charset="-122"/>
                <a:cs typeface="Courier New" pitchFamily="34" charset="-120"/>
              </a:rPr>
              <a:t>  12-lead ECG   Troponin   Cardiology consult   Aspirin</a:t>
            </a:r>
            <a:endParaRPr lang="en-US" sz="1300" dirty="0"/>
          </a:p>
        </p:txBody>
      </p:sp>
      <p:sp>
        <p:nvSpPr>
          <p:cNvPr id="9" name="Shape 7"/>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10" name="Text 8"/>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Every field is schema-enforced — no hallucinated free text, no unstructured response.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384048"/>
            <a:ext cx="420624" cy="420624"/>
          </a:xfrm>
          <a:prstGeom prst="roundRect">
            <a:avLst>
              <a:gd name="adj" fmla="val 15217"/>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384048"/>
            <a:ext cx="420624" cy="420624"/>
          </a:xfrm>
          <a:prstGeom prst="rect">
            <a:avLst/>
          </a:prstGeom>
          <a:noFill/>
          <a:ln/>
        </p:spPr>
        <p:txBody>
          <a:bodyPr wrap="square" lIns="0" tIns="0" rIns="0" bIns="0" rtlCol="0" anchor="ctr"/>
          <a:lstStyle/>
          <a:p>
            <a:pPr marL="0" indent="0" algn="ctr">
              <a:buNone/>
            </a:pPr>
            <a:r>
              <a:rPr lang="en-US" sz="1400" b="1" dirty="0">
                <a:solidFill>
                  <a:srgbClr val="00B4D8"/>
                </a:solidFill>
                <a:latin typeface="Calibri" pitchFamily="34" charset="0"/>
                <a:ea typeface="Calibri" pitchFamily="34" charset="-122"/>
                <a:cs typeface="Calibri" pitchFamily="34" charset="-120"/>
              </a:rPr>
              <a:t>YB</a:t>
            </a:r>
            <a:endParaRPr lang="en-US" sz="1400" dirty="0"/>
          </a:p>
        </p:txBody>
      </p:sp>
      <p:sp>
        <p:nvSpPr>
          <p:cNvPr id="4" name="Text 2"/>
          <p:cNvSpPr/>
          <p:nvPr/>
        </p:nvSpPr>
        <p:spPr>
          <a:xfrm>
            <a:off x="10927080" y="5961888"/>
            <a:ext cx="758952" cy="5486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09</a:t>
            </a:r>
            <a:endParaRPr lang="en-US" sz="1100" dirty="0"/>
          </a:p>
        </p:txBody>
      </p:sp>
      <p:sp>
        <p:nvSpPr>
          <p:cNvPr id="5" name="Text 3"/>
          <p:cNvSpPr/>
          <p:nvPr/>
        </p:nvSpPr>
        <p:spPr>
          <a:xfrm>
            <a:off x="1051560" y="365760"/>
            <a:ext cx="10241280" cy="548640"/>
          </a:xfrm>
          <a:prstGeom prst="rect">
            <a:avLst/>
          </a:prstGeom>
          <a:noFill/>
          <a:ln/>
        </p:spPr>
        <p:txBody>
          <a:bodyPr wrap="square" lIns="0" tIns="0" rIns="0" bIns="0" rtlCol="0" anchor="ctr"/>
          <a:lstStyle/>
          <a:p>
            <a:pPr marL="0" indent="0" algn="l">
              <a:buNone/>
            </a:pPr>
            <a:r>
              <a:rPr lang="en-US" sz="2500" b="1" dirty="0">
                <a:solidFill>
                  <a:srgbClr val="FFFFFF"/>
                </a:solidFill>
                <a:latin typeface="Calibri" pitchFamily="34" charset="0"/>
                <a:ea typeface="Calibri" pitchFamily="34" charset="-122"/>
                <a:cs typeface="Calibri" pitchFamily="34" charset="-120"/>
              </a:rPr>
              <a:t>Two Strategic Recommendations</a:t>
            </a:r>
            <a:endParaRPr lang="en-US" sz="2500" dirty="0"/>
          </a:p>
        </p:txBody>
      </p:sp>
      <p:sp>
        <p:nvSpPr>
          <p:cNvPr id="6" name="Shape 4"/>
          <p:cNvSpPr/>
          <p:nvPr/>
        </p:nvSpPr>
        <p:spPr>
          <a:xfrm>
            <a:off x="502920" y="1024128"/>
            <a:ext cx="11185855" cy="0"/>
          </a:xfrm>
          <a:prstGeom prst="line">
            <a:avLst/>
          </a:prstGeom>
          <a:noFill/>
          <a:ln w="19050">
            <a:solidFill>
              <a:srgbClr val="00B4D8"/>
            </a:solidFill>
            <a:prstDash val="solid"/>
          </a:ln>
        </p:spPr>
        <p:txBody>
          <a:bodyPr/>
          <a:lstStyle/>
          <a:p>
            <a:endParaRPr lang="en-US"/>
          </a:p>
        </p:txBody>
      </p:sp>
      <p:sp>
        <p:nvSpPr>
          <p:cNvPr id="7" name="Shape 5"/>
          <p:cNvSpPr/>
          <p:nvPr/>
        </p:nvSpPr>
        <p:spPr>
          <a:xfrm>
            <a:off x="502920" y="1417320"/>
            <a:ext cx="5364328" cy="4343400"/>
          </a:xfrm>
          <a:prstGeom prst="roundRect">
            <a:avLst>
              <a:gd name="adj" fmla="val 1263"/>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8" name="Text 6"/>
          <p:cNvSpPr/>
          <p:nvPr/>
        </p:nvSpPr>
        <p:spPr>
          <a:xfrm>
            <a:off x="795528" y="1673352"/>
            <a:ext cx="914400" cy="640080"/>
          </a:xfrm>
          <a:prstGeom prst="rect">
            <a:avLst/>
          </a:prstGeom>
          <a:noFill/>
          <a:ln/>
        </p:spPr>
        <p:txBody>
          <a:bodyPr wrap="square" lIns="0" tIns="0" rIns="0" bIns="0" rtlCol="0" anchor="ctr"/>
          <a:lstStyle/>
          <a:p>
            <a:pPr marL="0" indent="0" algn="l">
              <a:buNone/>
            </a:pPr>
            <a:r>
              <a:rPr lang="en-US" sz="3000" b="1" dirty="0">
                <a:solidFill>
                  <a:srgbClr val="00B4D8"/>
                </a:solidFill>
                <a:latin typeface="Calibri" pitchFamily="34" charset="0"/>
                <a:ea typeface="Calibri" pitchFamily="34" charset="-122"/>
                <a:cs typeface="Calibri" pitchFamily="34" charset="-120"/>
              </a:rPr>
              <a:t>01</a:t>
            </a:r>
            <a:endParaRPr lang="en-US" sz="3000" dirty="0"/>
          </a:p>
        </p:txBody>
      </p:sp>
      <p:sp>
        <p:nvSpPr>
          <p:cNvPr id="9" name="Text 7"/>
          <p:cNvSpPr/>
          <p:nvPr/>
        </p:nvSpPr>
        <p:spPr>
          <a:xfrm>
            <a:off x="1737360" y="1673352"/>
            <a:ext cx="3855568" cy="868680"/>
          </a:xfrm>
          <a:prstGeom prst="rect">
            <a:avLst/>
          </a:prstGeom>
          <a:noFill/>
          <a:ln/>
        </p:spPr>
        <p:txBody>
          <a:bodyPr wrap="square" lIns="0" tIns="0" rIns="0" bIns="0" rtlCol="0" anchor="ctr"/>
          <a:lstStyle/>
          <a:p>
            <a:pPr marL="0" indent="0" algn="l">
              <a:lnSpc>
                <a:spcPct val="100000"/>
              </a:lnSpc>
              <a:buNone/>
            </a:pPr>
            <a:r>
              <a:rPr lang="en-US" sz="1600" b="1" dirty="0">
                <a:solidFill>
                  <a:srgbClr val="FFFFFF"/>
                </a:solidFill>
                <a:latin typeface="Calibri" pitchFamily="34" charset="0"/>
                <a:ea typeface="Calibri" pitchFamily="34" charset="-122"/>
                <a:cs typeface="Calibri" pitchFamily="34" charset="-120"/>
              </a:rPr>
              <a:t>Build a Hybrid, Governed Payment-Integrity Agent</a:t>
            </a:r>
            <a:endParaRPr lang="en-US" sz="1600" dirty="0"/>
          </a:p>
        </p:txBody>
      </p:sp>
      <p:sp>
        <p:nvSpPr>
          <p:cNvPr id="10" name="Shape 8"/>
          <p:cNvSpPr/>
          <p:nvPr/>
        </p:nvSpPr>
        <p:spPr>
          <a:xfrm>
            <a:off x="795528" y="2715768"/>
            <a:ext cx="4779112" cy="0"/>
          </a:xfrm>
          <a:prstGeom prst="line">
            <a:avLst/>
          </a:prstGeom>
          <a:noFill/>
          <a:ln w="9525">
            <a:solidFill>
              <a:srgbClr val="2A4860"/>
            </a:solidFill>
            <a:prstDash val="solid"/>
          </a:ln>
        </p:spPr>
        <p:txBody>
          <a:bodyPr/>
          <a:lstStyle/>
          <a:p>
            <a:endParaRPr lang="en-US"/>
          </a:p>
        </p:txBody>
      </p:sp>
      <p:sp>
        <p:nvSpPr>
          <p:cNvPr id="11" name="Text 9"/>
          <p:cNvSpPr/>
          <p:nvPr/>
        </p:nvSpPr>
        <p:spPr>
          <a:xfrm>
            <a:off x="868680" y="2898648"/>
            <a:ext cx="4678528" cy="2103120"/>
          </a:xfrm>
          <a:prstGeom prst="rect">
            <a:avLst/>
          </a:prstGeom>
          <a:noFill/>
          <a:ln/>
        </p:spPr>
        <p:txBody>
          <a:bodyPr wrap="square" lIns="0" tIns="0" rIns="0" bIns="0" rtlCol="0" anchor="t"/>
          <a:lstStyle/>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Keep existing rule engines as the validation floor.</a:t>
            </a:r>
            <a:endParaRPr lang="en-US" sz="1250" dirty="0"/>
          </a:p>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Add retrieval-grounded LLM agents for documentation review and anomaly narrative.</a:t>
            </a:r>
            <a:endParaRPr lang="en-US" sz="1250" dirty="0"/>
          </a:p>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Confidence scoring with automatic human handoff on high-dollar or low-confidence claims.</a:t>
            </a:r>
            <a:endParaRPr lang="en-US" sz="1250" dirty="0"/>
          </a:p>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Audit logging throughout.</a:t>
            </a:r>
            <a:endParaRPr lang="en-US" sz="1250" dirty="0"/>
          </a:p>
        </p:txBody>
      </p:sp>
      <p:sp>
        <p:nvSpPr>
          <p:cNvPr id="12" name="Shape 10"/>
          <p:cNvSpPr/>
          <p:nvPr/>
        </p:nvSpPr>
        <p:spPr>
          <a:xfrm>
            <a:off x="795528" y="4919472"/>
            <a:ext cx="4779112" cy="603504"/>
          </a:xfrm>
          <a:prstGeom prst="roundRect">
            <a:avLst>
              <a:gd name="adj" fmla="val 7576"/>
            </a:avLst>
          </a:prstGeom>
          <a:solidFill>
            <a:srgbClr val="12466A"/>
          </a:solidFill>
          <a:ln/>
        </p:spPr>
        <p:txBody>
          <a:bodyPr/>
          <a:lstStyle/>
          <a:p>
            <a:endParaRPr lang="en-US"/>
          </a:p>
        </p:txBody>
      </p:sp>
      <p:sp>
        <p:nvSpPr>
          <p:cNvPr id="13" name="Text 11"/>
          <p:cNvSpPr/>
          <p:nvPr/>
        </p:nvSpPr>
        <p:spPr>
          <a:xfrm>
            <a:off x="960120" y="4919472"/>
            <a:ext cx="4449928" cy="603504"/>
          </a:xfrm>
          <a:prstGeom prst="rect">
            <a:avLst/>
          </a:prstGeom>
          <a:noFill/>
          <a:ln/>
        </p:spPr>
        <p:txBody>
          <a:bodyPr wrap="square" lIns="0" tIns="0" rIns="0" bIns="0" rtlCol="0" anchor="ctr"/>
          <a:lstStyle/>
          <a:p>
            <a:pPr marL="0" indent="0" algn="l">
              <a:lnSpc>
                <a:spcPct val="100000"/>
              </a:lnSpc>
              <a:buNone/>
            </a:pPr>
            <a:r>
              <a:rPr lang="en-US" sz="1150" b="1" i="1" dirty="0">
                <a:solidFill>
                  <a:srgbClr val="FFFFFF"/>
                </a:solidFill>
                <a:latin typeface="Calibri" pitchFamily="34" charset="0"/>
                <a:ea typeface="Calibri" pitchFamily="34" charset="-122"/>
                <a:cs typeface="Calibri" pitchFamily="34" charset="-120"/>
              </a:rPr>
              <a:t>A direct attack on the $31.7B improper-payment figure.</a:t>
            </a:r>
            <a:endParaRPr lang="en-US" sz="1150" dirty="0"/>
          </a:p>
        </p:txBody>
      </p:sp>
      <p:sp>
        <p:nvSpPr>
          <p:cNvPr id="14" name="Shape 12"/>
          <p:cNvSpPr/>
          <p:nvPr/>
        </p:nvSpPr>
        <p:spPr>
          <a:xfrm>
            <a:off x="6324448" y="1417320"/>
            <a:ext cx="5364328" cy="4343400"/>
          </a:xfrm>
          <a:prstGeom prst="roundRect">
            <a:avLst>
              <a:gd name="adj" fmla="val 1263"/>
            </a:avLst>
          </a:prstGeom>
          <a:solidFill>
            <a:srgbClr val="16304B"/>
          </a:solidFill>
          <a:ln/>
          <a:effectLst>
            <a:outerShdw blurRad="127000" dist="38100" dir="5400000" algn="bl" rotWithShape="0">
              <a:srgbClr val="000000">
                <a:alpha val="30000"/>
              </a:srgbClr>
            </a:outerShdw>
          </a:effectLst>
        </p:spPr>
        <p:txBody>
          <a:bodyPr/>
          <a:lstStyle/>
          <a:p>
            <a:endParaRPr lang="en-US"/>
          </a:p>
        </p:txBody>
      </p:sp>
      <p:sp>
        <p:nvSpPr>
          <p:cNvPr id="15" name="Text 13"/>
          <p:cNvSpPr/>
          <p:nvPr/>
        </p:nvSpPr>
        <p:spPr>
          <a:xfrm>
            <a:off x="6617056" y="1673352"/>
            <a:ext cx="914400" cy="640080"/>
          </a:xfrm>
          <a:prstGeom prst="rect">
            <a:avLst/>
          </a:prstGeom>
          <a:noFill/>
          <a:ln/>
        </p:spPr>
        <p:txBody>
          <a:bodyPr wrap="square" lIns="0" tIns="0" rIns="0" bIns="0" rtlCol="0" anchor="ctr"/>
          <a:lstStyle/>
          <a:p>
            <a:pPr marL="0" indent="0" algn="l">
              <a:buNone/>
            </a:pPr>
            <a:r>
              <a:rPr lang="en-US" sz="3000" b="1" dirty="0">
                <a:solidFill>
                  <a:srgbClr val="00B4D8"/>
                </a:solidFill>
                <a:latin typeface="Calibri" pitchFamily="34" charset="0"/>
                <a:ea typeface="Calibri" pitchFamily="34" charset="-122"/>
                <a:cs typeface="Calibri" pitchFamily="34" charset="-120"/>
              </a:rPr>
              <a:t>02</a:t>
            </a:r>
            <a:endParaRPr lang="en-US" sz="3000" dirty="0"/>
          </a:p>
        </p:txBody>
      </p:sp>
      <p:sp>
        <p:nvSpPr>
          <p:cNvPr id="16" name="Text 14"/>
          <p:cNvSpPr/>
          <p:nvPr/>
        </p:nvSpPr>
        <p:spPr>
          <a:xfrm>
            <a:off x="7558888" y="1673352"/>
            <a:ext cx="3855568" cy="868680"/>
          </a:xfrm>
          <a:prstGeom prst="rect">
            <a:avLst/>
          </a:prstGeom>
          <a:noFill/>
          <a:ln/>
        </p:spPr>
        <p:txBody>
          <a:bodyPr wrap="square" lIns="0" tIns="0" rIns="0" bIns="0" rtlCol="0" anchor="ctr"/>
          <a:lstStyle/>
          <a:p>
            <a:pPr marL="0" indent="0" algn="l">
              <a:lnSpc>
                <a:spcPct val="100000"/>
              </a:lnSpc>
              <a:buNone/>
            </a:pPr>
            <a:r>
              <a:rPr lang="en-US" sz="1600" b="1" dirty="0">
                <a:solidFill>
                  <a:srgbClr val="FFFFFF"/>
                </a:solidFill>
                <a:latin typeface="Calibri" pitchFamily="34" charset="0"/>
                <a:ea typeface="Calibri" pitchFamily="34" charset="-122"/>
                <a:cs typeface="Calibri" pitchFamily="34" charset="-120"/>
              </a:rPr>
              <a:t>Make Assurance &amp; Fairness a Product</a:t>
            </a:r>
            <a:endParaRPr lang="en-US" sz="1600" dirty="0"/>
          </a:p>
        </p:txBody>
      </p:sp>
      <p:sp>
        <p:nvSpPr>
          <p:cNvPr id="17" name="Shape 15"/>
          <p:cNvSpPr/>
          <p:nvPr/>
        </p:nvSpPr>
        <p:spPr>
          <a:xfrm>
            <a:off x="6617056" y="2715768"/>
            <a:ext cx="4779112" cy="0"/>
          </a:xfrm>
          <a:prstGeom prst="line">
            <a:avLst/>
          </a:prstGeom>
          <a:noFill/>
          <a:ln w="9525">
            <a:solidFill>
              <a:srgbClr val="2A4860"/>
            </a:solidFill>
            <a:prstDash val="solid"/>
          </a:ln>
        </p:spPr>
        <p:txBody>
          <a:bodyPr/>
          <a:lstStyle/>
          <a:p>
            <a:endParaRPr lang="en-US"/>
          </a:p>
        </p:txBody>
      </p:sp>
      <p:sp>
        <p:nvSpPr>
          <p:cNvPr id="18" name="Text 16"/>
          <p:cNvSpPr/>
          <p:nvPr/>
        </p:nvSpPr>
        <p:spPr>
          <a:xfrm>
            <a:off x="6690208" y="2898648"/>
            <a:ext cx="4678528" cy="2103120"/>
          </a:xfrm>
          <a:prstGeom prst="rect">
            <a:avLst/>
          </a:prstGeom>
          <a:noFill/>
          <a:ln/>
        </p:spPr>
        <p:txBody>
          <a:bodyPr wrap="square" lIns="0" tIns="0" rIns="0" bIns="0" rtlCol="0" anchor="t"/>
          <a:lstStyle/>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Bake a standing evaluation harness into every model.</a:t>
            </a:r>
            <a:endParaRPr lang="en-US" sz="1250" dirty="0"/>
          </a:p>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Adversarial hallucination tests (Omar et al. method).</a:t>
            </a:r>
            <a:endParaRPr lang="en-US" sz="1250" dirty="0"/>
          </a:p>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Subgroup fairness audits (Obermeyer framework).</a:t>
            </a:r>
            <a:endParaRPr lang="en-US" sz="1250" dirty="0"/>
          </a:p>
          <a:p>
            <a:pPr marL="342900" indent="-342900" algn="l">
              <a:lnSpc>
                <a:spcPct val="105000"/>
              </a:lnSpc>
              <a:spcAft>
                <a:spcPts val="700"/>
              </a:spcAft>
              <a:buSzPct val="100000"/>
              <a:buChar char="•"/>
            </a:pPr>
            <a:r>
              <a:rPr lang="en-US" sz="1250" dirty="0">
                <a:solidFill>
                  <a:srgbClr val="C7D3DE"/>
                </a:solidFill>
                <a:latin typeface="Calibri" pitchFamily="34" charset="0"/>
                <a:ea typeface="Calibri" pitchFamily="34" charset="-122"/>
                <a:cs typeface="Calibri" pitchFamily="34" charset="-120"/>
              </a:rPr>
              <a:t>Plain-language model cards for every deployment.</a:t>
            </a:r>
            <a:endParaRPr lang="en-US" sz="1250" dirty="0"/>
          </a:p>
        </p:txBody>
      </p:sp>
      <p:sp>
        <p:nvSpPr>
          <p:cNvPr id="19" name="Shape 17"/>
          <p:cNvSpPr/>
          <p:nvPr/>
        </p:nvSpPr>
        <p:spPr>
          <a:xfrm>
            <a:off x="6617056" y="4919472"/>
            <a:ext cx="4779112" cy="603504"/>
          </a:xfrm>
          <a:prstGeom prst="roundRect">
            <a:avLst>
              <a:gd name="adj" fmla="val 7576"/>
            </a:avLst>
          </a:prstGeom>
          <a:solidFill>
            <a:srgbClr val="12466A"/>
          </a:solidFill>
          <a:ln/>
        </p:spPr>
        <p:txBody>
          <a:bodyPr/>
          <a:lstStyle/>
          <a:p>
            <a:endParaRPr lang="en-US"/>
          </a:p>
        </p:txBody>
      </p:sp>
      <p:sp>
        <p:nvSpPr>
          <p:cNvPr id="20" name="Text 18"/>
          <p:cNvSpPr/>
          <p:nvPr/>
        </p:nvSpPr>
        <p:spPr>
          <a:xfrm>
            <a:off x="6781648" y="4919472"/>
            <a:ext cx="4449928" cy="603504"/>
          </a:xfrm>
          <a:prstGeom prst="rect">
            <a:avLst/>
          </a:prstGeom>
          <a:noFill/>
          <a:ln/>
        </p:spPr>
        <p:txBody>
          <a:bodyPr wrap="square" lIns="0" tIns="0" rIns="0" bIns="0" rtlCol="0" anchor="ctr"/>
          <a:lstStyle/>
          <a:p>
            <a:pPr marL="0" indent="0" algn="l">
              <a:lnSpc>
                <a:spcPct val="100000"/>
              </a:lnSpc>
              <a:buNone/>
            </a:pPr>
            <a:r>
              <a:rPr lang="en-US" sz="1150" b="1" i="1" dirty="0">
                <a:solidFill>
                  <a:srgbClr val="FFFFFF"/>
                </a:solidFill>
                <a:latin typeface="Calibri" pitchFamily="34" charset="0"/>
                <a:ea typeface="Calibri" pitchFamily="34" charset="-122"/>
                <a:cs typeface="Calibri" pitchFamily="34" charset="-120"/>
              </a:rPr>
              <a:t>As payers race to meet the CMS prior-auth rule, proven safety is an edge most vendors lack.</a:t>
            </a:r>
            <a:endParaRPr lang="en-US" sz="1150" dirty="0"/>
          </a:p>
        </p:txBody>
      </p:sp>
      <p:sp>
        <p:nvSpPr>
          <p:cNvPr id="21" name="Shape 19"/>
          <p:cNvSpPr/>
          <p:nvPr/>
        </p:nvSpPr>
        <p:spPr>
          <a:xfrm>
            <a:off x="502920" y="5961888"/>
            <a:ext cx="10317175" cy="548640"/>
          </a:xfrm>
          <a:prstGeom prst="roundRect">
            <a:avLst>
              <a:gd name="adj" fmla="val 8333"/>
            </a:avLst>
          </a:prstGeom>
          <a:solidFill>
            <a:srgbClr val="00B4D8"/>
          </a:solidFill>
          <a:ln/>
        </p:spPr>
        <p:txBody>
          <a:bodyPr/>
          <a:lstStyle/>
          <a:p>
            <a:endParaRPr lang="en-US"/>
          </a:p>
        </p:txBody>
      </p:sp>
      <p:sp>
        <p:nvSpPr>
          <p:cNvPr id="22" name="Text 20"/>
          <p:cNvSpPr/>
          <p:nvPr/>
        </p:nvSpPr>
        <p:spPr>
          <a:xfrm>
            <a:off x="777240" y="5961888"/>
            <a:ext cx="9814255" cy="548640"/>
          </a:xfrm>
          <a:prstGeom prst="rect">
            <a:avLst/>
          </a:prstGeom>
          <a:noFill/>
          <a:ln/>
        </p:spPr>
        <p:txBody>
          <a:bodyPr wrap="square" lIns="0" tIns="0" rIns="0" bIns="0" rtlCol="0" anchor="ctr"/>
          <a:lstStyle/>
          <a:p>
            <a:pPr marL="0" indent="0" algn="l">
              <a:buNone/>
            </a:pPr>
            <a:r>
              <a:rPr lang="en-US" sz="1250" b="1" dirty="0">
                <a:solidFill>
                  <a:srgbClr val="06303A"/>
                </a:solidFill>
                <a:latin typeface="Calibri" pitchFamily="34" charset="0"/>
                <a:ea typeface="Calibri" pitchFamily="34" charset="-122"/>
                <a:cs typeface="Calibri" pitchFamily="34" charset="-120"/>
              </a:rPr>
              <a:t>KEY TAKEAWAY    </a:t>
            </a:r>
            <a:r>
              <a:rPr lang="en-US" sz="1250" dirty="0">
                <a:solidFill>
                  <a:srgbClr val="08323D"/>
                </a:solidFill>
                <a:latin typeface="Calibri" pitchFamily="34" charset="0"/>
                <a:ea typeface="Calibri" pitchFamily="34" charset="-122"/>
                <a:cs typeface="Calibri" pitchFamily="34" charset="-120"/>
              </a:rPr>
              <a:t>Recommendation 1 captures the revenue opportunity. Recommendation 2 protects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14000"/>
            </a:avLst>
          </a:prstGeom>
          <a:solidFill>
            <a:srgbClr val="0D1B2A"/>
          </a:solidFill>
          <a:ln w="19050">
            <a:solidFill>
              <a:srgbClr val="00B4D8"/>
            </a:solidFill>
            <a:prstDash val="solid"/>
          </a:ln>
        </p:spPr>
        <p:txBody>
          <a:bodyPr/>
          <a:lstStyle/>
          <a:p>
            <a:endParaRPr lang="en-US"/>
          </a:p>
        </p:txBody>
      </p:sp>
      <p:sp>
        <p:nvSpPr>
          <p:cNvPr id="3" name="Text 1"/>
          <p:cNvSpPr/>
          <p:nvPr/>
        </p:nvSpPr>
        <p:spPr>
          <a:xfrm>
            <a:off x="502920" y="457200"/>
            <a:ext cx="457200" cy="457200"/>
          </a:xfrm>
          <a:prstGeom prst="rect">
            <a:avLst/>
          </a:prstGeom>
          <a:noFill/>
          <a:ln/>
        </p:spPr>
        <p:txBody>
          <a:bodyPr wrap="square" lIns="0" tIns="0" rIns="0" bIns="0" rtlCol="0" anchor="ctr"/>
          <a:lstStyle/>
          <a:p>
            <a:pPr marL="0" indent="0" algn="ctr">
              <a:buNone/>
            </a:pPr>
            <a:r>
              <a:rPr lang="en-US" sz="1500" b="1" dirty="0">
                <a:solidFill>
                  <a:srgbClr val="00B4D8"/>
                </a:solidFill>
                <a:latin typeface="Calibri" pitchFamily="34" charset="0"/>
                <a:ea typeface="Calibri" pitchFamily="34" charset="-122"/>
                <a:cs typeface="Calibri" pitchFamily="34" charset="-120"/>
              </a:rPr>
              <a:t>YB</a:t>
            </a:r>
            <a:endParaRPr lang="en-US" sz="1500" dirty="0"/>
          </a:p>
        </p:txBody>
      </p:sp>
      <p:sp>
        <p:nvSpPr>
          <p:cNvPr id="4" name="Text 2"/>
          <p:cNvSpPr/>
          <p:nvPr/>
        </p:nvSpPr>
        <p:spPr>
          <a:xfrm>
            <a:off x="822960" y="2011680"/>
            <a:ext cx="10515600" cy="100584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Shape 3"/>
          <p:cNvSpPr/>
          <p:nvPr/>
        </p:nvSpPr>
        <p:spPr>
          <a:xfrm>
            <a:off x="868680" y="3063240"/>
            <a:ext cx="3657600" cy="0"/>
          </a:xfrm>
          <a:prstGeom prst="line">
            <a:avLst/>
          </a:prstGeom>
          <a:noFill/>
          <a:ln w="31750">
            <a:solidFill>
              <a:srgbClr val="00B4D8"/>
            </a:solidFill>
            <a:prstDash val="solid"/>
          </a:ln>
        </p:spPr>
        <p:txBody>
          <a:bodyPr/>
          <a:lstStyle/>
          <a:p>
            <a:endParaRPr lang="en-US"/>
          </a:p>
        </p:txBody>
      </p:sp>
      <p:sp>
        <p:nvSpPr>
          <p:cNvPr id="6" name="Text 4"/>
          <p:cNvSpPr/>
          <p:nvPr/>
        </p:nvSpPr>
        <p:spPr>
          <a:xfrm>
            <a:off x="822960" y="3200400"/>
            <a:ext cx="10515600" cy="457200"/>
          </a:xfrm>
          <a:prstGeom prst="rect">
            <a:avLst/>
          </a:prstGeom>
          <a:noFill/>
          <a:ln/>
        </p:spPr>
        <p:txBody>
          <a:bodyPr wrap="square" lIns="0" tIns="0" rIns="0" bIns="0" rtlCol="0" anchor="ctr"/>
          <a:lstStyle/>
          <a:p>
            <a:pPr marL="0" indent="0" algn="l">
              <a:buNone/>
            </a:pPr>
            <a:r>
              <a:rPr lang="en-US" sz="1900" dirty="0">
                <a:solidFill>
                  <a:srgbClr val="00B4D8"/>
                </a:solidFill>
                <a:latin typeface="Calibri" pitchFamily="34" charset="0"/>
                <a:ea typeface="Calibri" pitchFamily="34" charset="-122"/>
                <a:cs typeface="Calibri" pitchFamily="34" charset="-120"/>
              </a:rPr>
              <a:t>Questions &amp; discussion welcome</a:t>
            </a:r>
            <a:endParaRPr lang="en-US" sz="1900" dirty="0"/>
          </a:p>
        </p:txBody>
      </p:sp>
      <p:sp>
        <p:nvSpPr>
          <p:cNvPr id="7" name="Text 5"/>
          <p:cNvSpPr/>
          <p:nvPr/>
        </p:nvSpPr>
        <p:spPr>
          <a:xfrm>
            <a:off x="822960" y="4206240"/>
            <a:ext cx="10515600" cy="1371600"/>
          </a:xfrm>
          <a:prstGeom prst="rect">
            <a:avLst/>
          </a:prstGeom>
          <a:noFill/>
          <a:ln/>
        </p:spPr>
        <p:txBody>
          <a:bodyPr wrap="square" lIns="0" tIns="0" rIns="0" bIns="0" rtlCol="0" anchor="t"/>
          <a:lstStyle/>
          <a:p>
            <a:pPr marL="0" indent="0" algn="l">
              <a:spcAft>
                <a:spcPts val="700"/>
              </a:spcAft>
              <a:buNone/>
            </a:pPr>
            <a:r>
              <a:rPr lang="en-US" sz="1400" b="1" dirty="0">
                <a:solidFill>
                  <a:srgbClr val="FFFFFF"/>
                </a:solidFill>
                <a:latin typeface="Calibri" pitchFamily="34" charset="0"/>
                <a:ea typeface="Calibri" pitchFamily="34" charset="-122"/>
                <a:cs typeface="Calibri" pitchFamily="34" charset="-120"/>
              </a:rPr>
              <a:t>Yash Bhamore</a:t>
            </a:r>
            <a:endParaRPr lang="en-US" sz="1400" dirty="0"/>
          </a:p>
          <a:p>
            <a:pPr marL="0" indent="0" algn="l">
              <a:spcAft>
                <a:spcPts val="700"/>
              </a:spcAft>
              <a:buNone/>
            </a:pPr>
            <a:r>
              <a:rPr lang="en-US" sz="1400" dirty="0">
                <a:solidFill>
                  <a:srgbClr val="C7D3DE"/>
                </a:solidFill>
                <a:latin typeface="Calibri" pitchFamily="34" charset="0"/>
                <a:ea typeface="Calibri" pitchFamily="34" charset="-122"/>
                <a:cs typeface="Calibri" pitchFamily="34" charset="-120"/>
              </a:rPr>
              <a:t>M.S. Data Science, University of North Texas</a:t>
            </a:r>
            <a:endParaRPr lang="en-US" sz="1400" dirty="0"/>
          </a:p>
          <a:p>
            <a:pPr marL="0" indent="0" algn="l">
              <a:spcAft>
                <a:spcPts val="700"/>
              </a:spcAft>
              <a:buNone/>
            </a:pPr>
            <a:r>
              <a:rPr lang="en-US" sz="1400" dirty="0">
                <a:solidFill>
                  <a:srgbClr val="9FB3C8"/>
                </a:solidFill>
                <a:latin typeface="Calibri" pitchFamily="34" charset="0"/>
                <a:ea typeface="Calibri" pitchFamily="34" charset="-122"/>
                <a:cs typeface="Calibri" pitchFamily="34" charset="-120"/>
              </a:rPr>
              <a:t>Cotiviti GenAI Internship Assessment  |  June 2026</a:t>
            </a:r>
            <a:endParaRPr lang="en-US" sz="1400" dirty="0"/>
          </a:p>
          <a:p>
            <a:pPr marL="0" indent="0" algn="l">
              <a:spcAft>
                <a:spcPts val="700"/>
              </a:spcAft>
              <a:buNone/>
            </a:pPr>
            <a:r>
              <a:rPr lang="en-US" sz="1400" dirty="0">
                <a:solidFill>
                  <a:srgbClr val="00B4D8"/>
                </a:solidFill>
                <a:latin typeface="Calibri" pitchFamily="34" charset="0"/>
                <a:ea typeface="Calibri" pitchFamily="34" charset="-122"/>
                <a:cs typeface="Calibri" pitchFamily="34" charset="-120"/>
              </a:rPr>
              <a:t>github.com/YashBhamore</a:t>
            </a:r>
            <a:endParaRPr lang="en-US" sz="1400" dirty="0"/>
          </a:p>
        </p:txBody>
      </p:sp>
      <p:sp>
        <p:nvSpPr>
          <p:cNvPr id="8" name="Text 6"/>
          <p:cNvSpPr/>
          <p:nvPr/>
        </p:nvSpPr>
        <p:spPr>
          <a:xfrm>
            <a:off x="822960" y="5943600"/>
            <a:ext cx="10515600" cy="457200"/>
          </a:xfrm>
          <a:prstGeom prst="rect">
            <a:avLst/>
          </a:prstGeom>
          <a:noFill/>
          <a:ln/>
        </p:spPr>
        <p:txBody>
          <a:bodyPr wrap="square" lIns="0" tIns="0" rIns="0" bIns="0" rtlCol="0" anchor="ctr"/>
          <a:lstStyle/>
          <a:p>
            <a:pPr marL="0" indent="0" algn="l">
              <a:buNone/>
            </a:pPr>
            <a:r>
              <a:rPr lang="en-US" sz="1400" i="1" dirty="0">
                <a:solidFill>
                  <a:srgbClr val="C7D3DE"/>
                </a:solidFill>
                <a:latin typeface="Calibri" pitchFamily="34" charset="0"/>
                <a:ea typeface="Calibri" pitchFamily="34" charset="-122"/>
                <a:cs typeface="Calibri" pitchFamily="34" charset="-120"/>
              </a:rPr>
              <a:t>Built to demonstrate real engineering judgment — not just familiarity with the tools.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186</TotalTime>
  <Words>2202</Words>
  <Application>Microsoft Macintosh PowerPoint</Application>
  <PresentationFormat>Widescreen</PresentationFormat>
  <Paragraphs>171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Clinical Decision Support</dc:title>
  <dc:subject>PptxGenJS Presentation</dc:subject>
  <dc:creator>Yash Bhamore</dc:creator>
  <cp:lastModifiedBy>Bhamore, Yash</cp:lastModifiedBy>
  <cp:revision>3</cp:revision>
  <dcterms:created xsi:type="dcterms:W3CDTF">2026-06-28T00:11:33Z</dcterms:created>
  <dcterms:modified xsi:type="dcterms:W3CDTF">2026-06-28T03:21:46Z</dcterms:modified>
</cp:coreProperties>
</file>